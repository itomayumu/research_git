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o.mayumu.86i@st.kyoto-u.ac.jp" userId="61576d9f-d326-4342-8eb7-97f6d6e8cfdf" providerId="ADAL" clId="{B8B63B84-2805-4A0B-8F3B-006A08B00DD8}"/>
    <pc:docChg chg="custSel addSld modSld sldOrd">
      <pc:chgData name="ito.mayumu.86i@st.kyoto-u.ac.jp" userId="61576d9f-d326-4342-8eb7-97f6d6e8cfdf" providerId="ADAL" clId="{B8B63B84-2805-4A0B-8F3B-006A08B00DD8}" dt="2026-10-06T04:07:40.128" v="58" actId="20577"/>
      <pc:docMkLst>
        <pc:docMk/>
      </pc:docMkLst>
      <pc:sldChg chg="delSp modSp mod">
        <pc:chgData name="ito.mayumu.86i@st.kyoto-u.ac.jp" userId="61576d9f-d326-4342-8eb7-97f6d6e8cfdf" providerId="ADAL" clId="{B8B63B84-2805-4A0B-8F3B-006A08B00DD8}" dt="2026-10-06T04:05:49.192" v="13" actId="207"/>
        <pc:sldMkLst>
          <pc:docMk/>
          <pc:sldMk cId="0" sldId="257"/>
        </pc:sldMkLst>
        <pc:spChg chg="mod">
          <ac:chgData name="ito.mayumu.86i@st.kyoto-u.ac.jp" userId="61576d9f-d326-4342-8eb7-97f6d6e8cfdf" providerId="ADAL" clId="{B8B63B84-2805-4A0B-8F3B-006A08B00DD8}" dt="2026-10-06T04:05:42.710" v="12" actId="207"/>
          <ac:spMkLst>
            <pc:docMk/>
            <pc:sldMk cId="0" sldId="257"/>
            <ac:spMk id="2" creationId="{00000000-0000-0000-0000-000000000000}"/>
          </ac:spMkLst>
        </pc:spChg>
        <pc:spChg chg="del">
          <ac:chgData name="ito.mayumu.86i@st.kyoto-u.ac.jp" userId="61576d9f-d326-4342-8eb7-97f6d6e8cfdf" providerId="ADAL" clId="{B8B63B84-2805-4A0B-8F3B-006A08B00DD8}" dt="2026-10-06T04:05:37.602" v="9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ito.mayumu.86i@st.kyoto-u.ac.jp" userId="61576d9f-d326-4342-8eb7-97f6d6e8cfdf" providerId="ADAL" clId="{B8B63B84-2805-4A0B-8F3B-006A08B00DD8}" dt="2026-10-06T04:05:49.192" v="13" actId="207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ito.mayumu.86i@st.kyoto-u.ac.jp" userId="61576d9f-d326-4342-8eb7-97f6d6e8cfdf" providerId="ADAL" clId="{B8B63B84-2805-4A0B-8F3B-006A08B00DD8}" dt="2026-10-06T04:05:37.611" v="11"/>
          <ac:spMkLst>
            <pc:docMk/>
            <pc:sldMk cId="0" sldId="257"/>
            <ac:spMk id="5" creationId="{00000000-0000-0000-0000-000000000000}"/>
          </ac:spMkLst>
        </pc:spChg>
      </pc:sldChg>
      <pc:sldChg chg="add ord">
        <pc:chgData name="ito.mayumu.86i@st.kyoto-u.ac.jp" userId="61576d9f-d326-4342-8eb7-97f6d6e8cfdf" providerId="ADAL" clId="{B8B63B84-2805-4A0B-8F3B-006A08B00DD8}" dt="2026-10-06T04:06:11.418" v="15"/>
        <pc:sldMkLst>
          <pc:docMk/>
          <pc:sldMk cId="0" sldId="261"/>
        </pc:sldMkLst>
      </pc:sldChg>
      <pc:sldChg chg="add ord">
        <pc:chgData name="ito.mayumu.86i@st.kyoto-u.ac.jp" userId="61576d9f-d326-4342-8eb7-97f6d6e8cfdf" providerId="ADAL" clId="{B8B63B84-2805-4A0B-8F3B-006A08B00DD8}" dt="2026-09-24T09:23:58.801" v="3"/>
        <pc:sldMkLst>
          <pc:docMk/>
          <pc:sldMk cId="0" sldId="262"/>
        </pc:sldMkLst>
      </pc:sldChg>
      <pc:sldChg chg="add">
        <pc:chgData name="ito.mayumu.86i@st.kyoto-u.ac.jp" userId="61576d9f-d326-4342-8eb7-97f6d6e8cfdf" providerId="ADAL" clId="{B8B63B84-2805-4A0B-8F3B-006A08B00DD8}" dt="2026-09-24T09:24:19.808" v="4"/>
        <pc:sldMkLst>
          <pc:docMk/>
          <pc:sldMk cId="0" sldId="263"/>
        </pc:sldMkLst>
      </pc:sldChg>
      <pc:sldChg chg="modSp add mod">
        <pc:chgData name="ito.mayumu.86i@st.kyoto-u.ac.jp" userId="61576d9f-d326-4342-8eb7-97f6d6e8cfdf" providerId="ADAL" clId="{B8B63B84-2805-4A0B-8F3B-006A08B00DD8}" dt="2026-10-06T04:07:40.128" v="58" actId="20577"/>
        <pc:sldMkLst>
          <pc:docMk/>
          <pc:sldMk cId="0" sldId="264"/>
        </pc:sldMkLst>
        <pc:graphicFrameChg chg="modGraphic">
          <ac:chgData name="ito.mayumu.86i@st.kyoto-u.ac.jp" userId="61576d9f-d326-4342-8eb7-97f6d6e8cfdf" providerId="ADAL" clId="{B8B63B84-2805-4A0B-8F3B-006A08B00DD8}" dt="2026-10-06T04:07:40.128" v="58" actId="20577"/>
          <ac:graphicFrameMkLst>
            <pc:docMk/>
            <pc:sldMk cId="0" sldId="264"/>
            <ac:graphicFrameMk id="11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0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1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37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8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3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4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6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0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2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7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8569D-8609-4439-A44C-2B67E35F7E5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6E308-054B-4BD8-A0DC-AF8D27295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3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0290" y="3273552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充填層内 気液二相流の数値解析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EEA72E-4719-38AD-26C9-32AD8EFA4EB8}"/>
              </a:ext>
            </a:extLst>
          </p:cNvPr>
          <p:cNvSpPr txBox="1"/>
          <p:nvPr/>
        </p:nvSpPr>
        <p:spPr>
          <a:xfrm>
            <a:off x="485775" y="514350"/>
            <a:ext cx="4221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基礎方程式（</a:t>
            </a:r>
            <a:r>
              <a:rPr lang="en-US" altLang="ja-JP"/>
              <a:t>Euler-Euler</a:t>
            </a:r>
            <a:r>
              <a:rPr lang="ja-JP" altLang="en-US"/>
              <a:t>二流体モデル）</a:t>
            </a:r>
            <a:endParaRPr lang="en-US" altLang="ja-JP"/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D4D4940-F96D-3021-01AB-13409C5014A8}"/>
                  </a:ext>
                </a:extLst>
              </p:cNvPr>
              <p:cNvSpPr txBox="1"/>
              <p:nvPr/>
            </p:nvSpPr>
            <p:spPr>
              <a:xfrm>
                <a:off x="-882073" y="1671781"/>
                <a:ext cx="6732677" cy="81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D4D4940-F96D-3021-01AB-13409C501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2073" y="1671781"/>
                <a:ext cx="6732677" cy="8145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EB0CDD-6288-9E2E-7793-487043770712}"/>
              </a:ext>
            </a:extLst>
          </p:cNvPr>
          <p:cNvSpPr txBox="1"/>
          <p:nvPr/>
        </p:nvSpPr>
        <p:spPr>
          <a:xfrm>
            <a:off x="485775" y="116068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各相の質量保存式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880272-A78A-29AA-F040-255C755EB363}"/>
              </a:ext>
            </a:extLst>
          </p:cNvPr>
          <p:cNvSpPr txBox="1"/>
          <p:nvPr/>
        </p:nvSpPr>
        <p:spPr>
          <a:xfrm>
            <a:off x="485775" y="281273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各相の運動量保存式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32A961D-0E6D-70E0-C19F-E0C80B0B64CF}"/>
                  </a:ext>
                </a:extLst>
              </p:cNvPr>
              <p:cNvSpPr txBox="1"/>
              <p:nvPr/>
            </p:nvSpPr>
            <p:spPr>
              <a:xfrm>
                <a:off x="-2149312" y="3806071"/>
                <a:ext cx="12683861" cy="814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𝐔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𝐌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32A961D-0E6D-70E0-C19F-E0C80B0B6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49312" y="3806071"/>
                <a:ext cx="12683861" cy="814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6DF15E6-A162-17D2-175C-EE6E2EC17A4B}"/>
              </a:ext>
            </a:extLst>
          </p:cNvPr>
          <p:cNvSpPr txBox="1"/>
          <p:nvPr/>
        </p:nvSpPr>
        <p:spPr>
          <a:xfrm>
            <a:off x="485775" y="4875263"/>
            <a:ext cx="10800000" cy="9233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400"/>
              <a:t>Mk</a:t>
            </a:r>
            <a:r>
              <a:rPr lang="ja-JP" altLang="en-US" sz="1400"/>
              <a:t>は相間力（本ケース：抗力 SchillerNaumann + 仮想質量 Cvm=0.5／揚力・壁潤滑・乱流分散は無効）を示す。充填層粒子との抵抗はfvOptionsの多孔質項（Darcy-Forchheimer、Ergun式ベース）として別途追加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68815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514350"/>
            <a:ext cx="90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err="1"/>
              <a:t>充填層のモデル化</a:t>
            </a:r>
            <a:r>
              <a:rPr lang="en-US" sz="2400"/>
              <a:t> (</a:t>
            </a:r>
            <a:r>
              <a:rPr sz="2400"/>
              <a:t>Darcy-</a:t>
            </a:r>
            <a:r>
              <a:rPr lang="en-US" sz="2400" err="1"/>
              <a:t>Forchheimer</a:t>
            </a:r>
            <a:r>
              <a:rPr sz="2400" err="1"/>
              <a:t>多孔質抵抗</a:t>
            </a:r>
            <a:r>
              <a:rPr lang="en-US" sz="2400"/>
              <a:t>)</a:t>
            </a:r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85775" y="1250000"/>
            <a:ext cx="1122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err="1"/>
              <a:t>充填層は形状を解像せず、Ergun</a:t>
            </a:r>
            <a:r>
              <a:rPr sz="1600"/>
              <a:t> </a:t>
            </a:r>
            <a:r>
              <a:rPr sz="1600" err="1"/>
              <a:t>式に基づく</a:t>
            </a:r>
            <a:r>
              <a:rPr sz="1600"/>
              <a:t> Darcy-</a:t>
            </a:r>
            <a:r>
              <a:rPr sz="1600" err="1"/>
              <a:t>Forchheimer</a:t>
            </a:r>
            <a:r>
              <a:rPr sz="1600"/>
              <a:t> </a:t>
            </a:r>
            <a:r>
              <a:rPr sz="1600" err="1"/>
              <a:t>抵抗として運動量ソース項で表現する</a:t>
            </a:r>
            <a:r>
              <a:rPr sz="1600"/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850000"/>
            <a:ext cx="112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Ergun 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2448584"/>
            <a:ext cx="112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err="1"/>
              <a:t>OpenFOAM</a:t>
            </a:r>
            <a:r>
              <a:rPr sz="1600"/>
              <a:t> の Darcy-</a:t>
            </a:r>
            <a:r>
              <a:rPr sz="1600" err="1"/>
              <a:t>Forchheimer</a:t>
            </a:r>
            <a:r>
              <a:rPr sz="1600"/>
              <a:t> </a:t>
            </a:r>
            <a:r>
              <a:rPr sz="1600" err="1"/>
              <a:t>ソース項（fvOptions</a:t>
            </a:r>
            <a:r>
              <a:rPr sz="1600"/>
              <a:t>）：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3056584"/>
            <a:ext cx="1122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err="1"/>
              <a:t>両式を対応させ、さらに各相が細孔空間の一部しか占めないことを実験ボイド率</a:t>
            </a:r>
            <a:r>
              <a:rPr sz="1400"/>
              <a:t> a </a:t>
            </a:r>
            <a:r>
              <a:rPr sz="1400" err="1"/>
              <a:t>で補正すると、相ごとの係数は次式となる（Darcy</a:t>
            </a:r>
            <a:r>
              <a:rPr sz="1400"/>
              <a:t> </a:t>
            </a:r>
            <a:r>
              <a:rPr sz="1400" err="1"/>
              <a:t>項は</a:t>
            </a:r>
            <a:r>
              <a:rPr sz="1400"/>
              <a:t> 1/s²、Forchheimer </a:t>
            </a:r>
            <a:r>
              <a:rPr sz="1400" err="1"/>
              <a:t>項は</a:t>
            </a:r>
            <a:r>
              <a:rPr sz="1400"/>
              <a:t> 1/s </a:t>
            </a:r>
            <a:r>
              <a:rPr sz="1400" err="1"/>
              <a:t>でスケール。相対浸透率モデルと同じ考え方</a:t>
            </a:r>
            <a:r>
              <a:rPr sz="1400"/>
              <a:t>）。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5775" y="3800000"/>
          <a:ext cx="1122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666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気相（air）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液相（water）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Darcy 係数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150(1−ε)² / (a²・ε³・dp²)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150(1−ε)² / ((1−a)²・ε³・dp²)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6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Forchheimer 係数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3.5(1−ε) / (a・ε³・dp)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3.5(1−ε) / ((1−a)・ε³・dp)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5775" y="5608000"/>
            <a:ext cx="112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err="1"/>
              <a:t>固定パラメータ：ε</a:t>
            </a:r>
            <a:r>
              <a:rPr sz="1400"/>
              <a:t> = 0.3731（空隙率）、</a:t>
            </a:r>
            <a:r>
              <a:rPr sz="1400" err="1"/>
              <a:t>dp</a:t>
            </a:r>
            <a:r>
              <a:rPr sz="1400"/>
              <a:t> = 0.005 </a:t>
            </a:r>
            <a:r>
              <a:rPr sz="1400" err="1"/>
              <a:t>m（粒子径</a:t>
            </a:r>
            <a:r>
              <a:rPr sz="1400"/>
              <a:t>）。D/</a:t>
            </a:r>
            <a:r>
              <a:rPr sz="1400" err="1"/>
              <a:t>dp</a:t>
            </a:r>
            <a:r>
              <a:rPr sz="1400"/>
              <a:t> = 10 </a:t>
            </a:r>
            <a:r>
              <a:rPr sz="1400" err="1"/>
              <a:t>であり、壁面効果は無視できない領域にある</a:t>
            </a:r>
            <a:r>
              <a:rPr sz="1400"/>
              <a:t>。</a:t>
            </a:r>
          </a:p>
          <a:p>
            <a:r>
              <a:rPr sz="1400" err="1"/>
              <a:t>気流束</a:t>
            </a:r>
            <a:r>
              <a:rPr sz="1400"/>
              <a:t> </a:t>
            </a:r>
            <a:r>
              <a:rPr sz="1400" err="1"/>
              <a:t>jG</a:t>
            </a:r>
            <a:r>
              <a:rPr sz="1400"/>
              <a:t> </a:t>
            </a:r>
            <a:r>
              <a:rPr sz="1400" err="1"/>
              <a:t>が増えるほど気相の係数（d_air</a:t>
            </a:r>
            <a:r>
              <a:rPr sz="1400"/>
              <a:t>, </a:t>
            </a:r>
            <a:r>
              <a:rPr sz="1400" err="1"/>
              <a:t>f_air）は減少し、液相の係数（d_water</a:t>
            </a:r>
            <a:r>
              <a:rPr sz="1400"/>
              <a:t>, </a:t>
            </a:r>
            <a:r>
              <a:rPr sz="1400" err="1"/>
              <a:t>f_water）は増加する（実験ボイド率</a:t>
            </a:r>
            <a:r>
              <a:rPr sz="1400"/>
              <a:t> a </a:t>
            </a:r>
            <a:r>
              <a:rPr sz="1400" err="1"/>
              <a:t>による重み付けのため</a:t>
            </a:r>
            <a:r>
              <a:rPr sz="1400"/>
              <a:t>）── </a:t>
            </a:r>
            <a:r>
              <a:rPr sz="1400" err="1"/>
              <a:t>物理的に妥当な傾向</a:t>
            </a:r>
            <a:r>
              <a:rPr sz="140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5C1E621-F0E9-0C12-31C9-F40589E96B1B}"/>
                  </a:ext>
                </a:extLst>
              </p:cNvPr>
              <p:cNvSpPr txBox="1"/>
              <p:nvPr/>
            </p:nvSpPr>
            <p:spPr>
              <a:xfrm>
                <a:off x="-457200" y="1728524"/>
                <a:ext cx="8037457" cy="9200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=150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+1.75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5C1E621-F0E9-0C12-31C9-F40589E96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7200" y="1728524"/>
                <a:ext cx="8037457" cy="9200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BF5C2A43-348A-C5DE-47E3-A2FB4EE364E8}"/>
                  </a:ext>
                </a:extLst>
              </p:cNvPr>
              <p:cNvSpPr txBox="1"/>
              <p:nvPr/>
            </p:nvSpPr>
            <p:spPr>
              <a:xfrm>
                <a:off x="3800764" y="2403849"/>
                <a:ext cx="6157327" cy="749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𝐝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𝐔</m:t>
                              </m:r>
                            </m:e>
                          </m:d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BF5C2A43-348A-C5DE-47E3-A2FB4EE36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764" y="2403849"/>
                <a:ext cx="6157327" cy="7495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300000"/>
            <a:ext cx="1122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このケースでの実装：計算体系・形状/メッシュ・相間相互作用モデル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363" y="1138472"/>
            <a:ext cx="370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2.1 計算体系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36397"/>
              </p:ext>
            </p:extLst>
          </p:nvPr>
        </p:nvGraphicFramePr>
        <p:xfrm>
          <a:off x="299999" y="1530000"/>
          <a:ext cx="4308945" cy="2072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ソルバ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myTwoPhaseEulerFoam</a:t>
                      </a:r>
                    </a:p>
                    <a:p>
                      <a:pPr>
                        <a:defRPr sz="1000"/>
                      </a:pPr>
                      <a:r>
                        <a:t>（OpenFOAM v2412ベース自作）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定式化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Euler-Euler 二流体モデル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圧力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全相共有 p_rgh を解いて p を導出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エネルギー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sensibleInternalEnergy</a:t>
                      </a:r>
                    </a:p>
                    <a:p>
                      <a:pPr>
                        <a:defRPr sz="1000"/>
                      </a:pPr>
                      <a:r>
                        <a:rPr sz="1200"/>
                        <a:t>（e.air／e.water）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乱流モデル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両相とも laminar（モデルなし）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重力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(0,0,−9.81) m/s²（+Z が上昇流）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8363" y="3670655"/>
            <a:ext cx="370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2.2 形状・メッシュ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863577"/>
              </p:ext>
            </p:extLst>
          </p:nvPr>
        </p:nvGraphicFramePr>
        <p:xfrm>
          <a:off x="300000" y="4070000"/>
          <a:ext cx="4308944" cy="216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形状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円管（O-grid 5ブロック）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内径／全長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50 mm ／ 1000 mm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総セル数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168,750</a:t>
                      </a:r>
                    </a:p>
                    <a:p>
                      <a:pPr>
                        <a:defRPr sz="1000"/>
                      </a:pPr>
                      <a:r>
                        <a:rPr sz="1200"/>
                        <a:t>（nx=15, ny=15, nz=150）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充填層領域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Z=0.2〜0.9m</a:t>
                      </a:r>
                    </a:p>
                    <a:p>
                      <a:pPr>
                        <a:defRPr sz="1000"/>
                      </a:pPr>
                      <a:r>
                        <a:rPr sz="1200"/>
                        <a:t>（cellZone「porosity1」）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助走部／出口部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Z=0〜0.2m ／ 0.9〜1.0m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境界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/>
                        <a:t>INLET（下端）／OUTLET（上端）</a:t>
                      </a:r>
                    </a:p>
                    <a:p>
                      <a:pPr>
                        <a:defRPr sz="1000"/>
                      </a:pPr>
                      <a:r>
                        <a:rPr sz="1200"/>
                        <a:t>／WALL（側面）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39421" y="1138472"/>
            <a:ext cx="370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/>
              <a:t>2.3-2.4 相間相互作用・物性値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203625"/>
              </p:ext>
            </p:extLst>
          </p:nvPr>
        </p:nvGraphicFramePr>
        <p:xfrm>
          <a:off x="5390690" y="1530000"/>
          <a:ext cx="6592947" cy="3277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28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気泡径／液滴径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isothermal d0=3mm</a:t>
                      </a:r>
                    </a:p>
                    <a:p>
                      <a:pPr>
                        <a:defRPr sz="1000"/>
                      </a:pPr>
                      <a:r>
                        <a:rPr sz="1600"/>
                        <a:t>／ constant 0.1mm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抗力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SchillerNaumann（中間域は segregated）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仮想質量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constantCoefficient（Cvm=0.5）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熱伝達</a:t>
                      </a:r>
                      <a:r>
                        <a:rPr lang="ja-JP" altLang="en-US" sz="1200"/>
                        <a:t>（エネルギー式の際に入っているが等温のため影響なし）</a:t>
                      </a:r>
                      <a:endParaRPr sz="1600"/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RanzMarshall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表面張力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0.07 N/m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揚力・壁潤滑・乱流分散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すべて無効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物性（air／water）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600"/>
                        <a:t>μ=1.84e-5 ／ 8.9e-4 Pa·s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300000"/>
            <a:ext cx="1122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初期・境界条件／数値スキーム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00" y="1150000"/>
            <a:ext cx="3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初期条件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0000" y="1530000"/>
          <a:ext cx="3700000" cy="20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alpha.air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0（全域水で初期化）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／ p_rgh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1×10⁵ Pa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298.15 K（25℃）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入口流速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U.air=U.water</a:t>
                      </a:r>
                    </a:p>
                    <a:p>
                      <a:pPr>
                        <a:defRPr sz="1000"/>
                      </a:pPr>
                      <a:r>
                        <a:t>=(jG+jL)/100 [m/s]</a:t>
                      </a:r>
                    </a:p>
                    <a:p>
                      <a:pPr>
                        <a:defRPr sz="1000"/>
                      </a:pPr>
                      <a:r>
                        <a:t>（均質流・スリップ比S=1）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入口ボイド率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alpha.air = jG/(jG+jL)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80000" y="1150000"/>
            <a:ext cx="3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境界条件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80000" y="1530000"/>
          <a:ext cx="37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0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U.air/water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fixedValue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pressureInlet</a:t>
                      </a:r>
                    </a:p>
                    <a:p>
                      <a:pPr>
                        <a:defRPr sz="900"/>
                      </a:pPr>
                      <a:r>
                        <a:t>OutletVelocity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fixedValue (0,0,0)</a:t>
                      </a:r>
                    </a:p>
                  </a:txBody>
                  <a:tcPr marL="20000" marR="2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alpha.air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fixedValue α_in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inletOutlet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zeroGradient</a:t>
                      </a:r>
                    </a:p>
                  </a:txBody>
                  <a:tcPr marL="20000" marR="2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p_rgh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fixedFluxPressure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prghPressure</a:t>
                      </a:r>
                    </a:p>
                  </a:txBody>
                  <a:tcPr marL="20000" marR="20000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fixedFluxPressure</a:t>
                      </a:r>
                    </a:p>
                  </a:txBody>
                  <a:tcPr marL="20000" marR="2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60000" y="1150000"/>
            <a:ext cx="3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数値スキーム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60000" y="1530000"/>
          <a:ext cx="37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時間項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Euler（1次陰解法）</a:t>
                      </a:r>
                    </a:p>
                    <a:p>
                      <a:pPr>
                        <a:defRPr sz="1000"/>
                      </a:pPr>
                      <a:r>
                        <a:t>adjustTimeStep, maxCo=0.5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移流項（α）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Gauss vanLeer</a:t>
                      </a:r>
                    </a:p>
                    <a:p>
                      <a:pPr>
                        <a:defRPr sz="1000"/>
                      </a:pPr>
                      <a:r>
                        <a:t>（MULES, nAlphaSubCycles=2）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移流項（U）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Gauss limitedLinearV 1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圧力ソルバ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GAMG + DIC</a:t>
                      </a:r>
                    </a:p>
                    <a:p>
                      <a:pPr>
                        <a:defRPr sz="1000"/>
                      </a:pPr>
                      <a:r>
                        <a:t>tolerance=1×10⁻⁸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PIMPLE</a:t>
                      </a:r>
                    </a:p>
                  </a:txBody>
                  <a:tcPr marL="35000" marR="35000" marT="8000" marB="8000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nOuterCorrectors=3</a:t>
                      </a:r>
                    </a:p>
                    <a:p>
                      <a:pPr>
                        <a:defRPr sz="1000"/>
                      </a:pPr>
                      <a:r>
                        <a:t>nCorrectors=1</a:t>
                      </a:r>
                    </a:p>
                  </a:txBody>
                  <a:tcPr marL="35000" marR="35000" marT="8000" marB="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300000"/>
            <a:ext cx="1122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圧力損失勾配の比較：実験・Lipinski・OpenFOAM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775" y="950000"/>
            <a:ext cx="1122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液流束 jL ≈ 10 cm/s 一定、気流束 jG を8水準に振った各ケースの全圧勾配 [kPa/m] を比較（誤差は実験値基準）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5775" y="1550000"/>
          <a:ext cx="11220000" cy="38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jG</a:t>
                      </a:r>
                    </a:p>
                    <a:p>
                      <a:pPr>
                        <a:defRPr sz="1100" b="1"/>
                      </a:pPr>
                      <a:r>
                        <a:t>[cm/s]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実験</a:t>
                      </a:r>
                    </a:p>
                    <a:p>
                      <a:pPr>
                        <a:defRPr sz="1100" b="1"/>
                      </a:pPr>
                      <a:r>
                        <a:t>[kPa/m]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Lipinski</a:t>
                      </a:r>
                    </a:p>
                    <a:p>
                      <a:pPr>
                        <a:defRPr sz="1100" b="1"/>
                      </a:pPr>
                      <a:r>
                        <a:t>[kPa/m]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Lipinski</a:t>
                      </a:r>
                    </a:p>
                    <a:p>
                      <a:pPr>
                        <a:defRPr sz="1100" b="1"/>
                      </a:pPr>
                      <a:r>
                        <a:t>誤差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OpenFOAM</a:t>
                      </a:r>
                    </a:p>
                    <a:p>
                      <a:pPr>
                        <a:defRPr sz="1100" b="1"/>
                      </a:pPr>
                      <a:r>
                        <a:t>[kPa/m]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OpenFOAM</a:t>
                      </a:r>
                    </a:p>
                    <a:p>
                      <a:pPr>
                        <a:defRPr sz="1100" b="1"/>
                      </a:pPr>
                      <a:r>
                        <a:t>誤差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CFD</a:t>
                      </a:r>
                    </a:p>
                    <a:p>
                      <a:pPr>
                        <a:defRPr sz="1100" b="1"/>
                      </a:pPr>
                      <a:r>
                        <a:t>収束状況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1.5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52.51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67.53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+28.6%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68.53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+30.5%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収束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7.2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72.32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73.53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+1.7%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85.99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+18.9%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未収束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16.6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97.79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89.03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−9.0%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119.70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+22.4%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ほぼ収束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31.8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111.62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102.18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−8.5%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150.43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+34.8%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ほぼ収束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47.2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120.91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115.91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−4.1%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計算なし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61.1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135.88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132.88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−2.2%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計算なし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74.1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140.69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143.16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+1.8%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228.52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+62.4%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未収束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103.9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167.84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181.04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+7.9%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計算なし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5775" y="5570000"/>
            <a:ext cx="11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▪ Lipinski は case2〜8 で ±9% 以内と実験に近い（case1のみ+28.6%）
▪ OpenFOAM は全ケースで過大評価し、誤差は jG とともに拡大（+18.9〜+62.4%）
▪ Lipinski の一致は、ボイド率の過小評価と補正の過大が相殺した結果の可能性がある（後述）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300000"/>
            <a:ext cx="1122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ループ（recalculate）の仕組みと結果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775" y="950000"/>
            <a:ext cx="1122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標準ケースは多孔質係数（d,f）に実験ボイド率 a を固定値として投入しており、これが OpenFOAM 過大評価の一因と考えられる（考察）。</a:t>
            </a:r>
          </a:p>
          <a:p>
            <a:r>
              <a:rPr sz="1300" b="0"/>
              <a:t>recalculate ループは、CFD 自身が計算した層内ボイド率を使って係数を都度更新し、解と係数を収束させる（updateLoop.sh）。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750000"/>
            <a:ext cx="112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更新ループの手順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" y="2150000"/>
            <a:ext cx="2180000" cy="900000"/>
          </a:xfrm>
          <a:prstGeom prst="rect">
            <a:avLst/>
          </a:prstGeom>
          <a:solidFill>
            <a:srgbClr val="EEF2FA"/>
          </a:solidFill>
          <a:ln w="9525">
            <a:solidFill>
              <a:srgbClr val="8EA9DB"/>
            </a:solidFill>
          </a:ln>
        </p:spPr>
        <p:txBody>
          <a:bodyPr wrap="square" lIns="60000" tIns="50000" rIns="60000" bIns="50000">
            <a:spAutoFit/>
          </a:bodyPr>
          <a:lstStyle/>
          <a:p>
            <a:r>
              <a:rPr sz="1100"/>
              <a:t>① 層内平均ボイド率 a を計測
（postProcess -func volAvgAlpha、cellZone porosity1）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5000" y="2150000"/>
            <a:ext cx="2180000" cy="900000"/>
          </a:xfrm>
          <a:prstGeom prst="rect">
            <a:avLst/>
          </a:prstGeom>
          <a:solidFill>
            <a:srgbClr val="EEF2FA"/>
          </a:solidFill>
          <a:ln w="9525">
            <a:solidFill>
              <a:srgbClr val="8EA9DB"/>
            </a:solidFill>
          </a:ln>
        </p:spPr>
        <p:txBody>
          <a:bodyPr wrap="square" lIns="60000" tIns="50000" rIns="60000" bIns="50000">
            <a:spAutoFit/>
          </a:bodyPr>
          <a:lstStyle/>
          <a:p>
            <a:r>
              <a:rPr sz="1100"/>
              <a:t>② Ergun式で D_L, F_L, D_G, F_G
を再計算（darcyMethod.cpp と同式）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0000" y="2150000"/>
            <a:ext cx="2180000" cy="900000"/>
          </a:xfrm>
          <a:prstGeom prst="rect">
            <a:avLst/>
          </a:prstGeom>
          <a:solidFill>
            <a:srgbClr val="EEF2FA"/>
          </a:solidFill>
          <a:ln w="9525">
            <a:solidFill>
              <a:srgbClr val="8EA9DB"/>
            </a:solidFill>
          </a:ln>
        </p:spPr>
        <p:txBody>
          <a:bodyPr wrap="square" lIns="60000" tIns="50000" rIns="60000" bIns="50000">
            <a:spAutoFit/>
          </a:bodyPr>
          <a:lstStyle/>
          <a:p>
            <a:r>
              <a:rPr sz="1100"/>
              <a:t>③ fvOptions に書き戻す
（foamDictionary -set）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5000" y="2150000"/>
            <a:ext cx="2180000" cy="900000"/>
          </a:xfrm>
          <a:prstGeom prst="rect">
            <a:avLst/>
          </a:prstGeom>
          <a:solidFill>
            <a:srgbClr val="EEF2FA"/>
          </a:solidFill>
          <a:ln w="9525">
            <a:solidFill>
              <a:srgbClr val="8EA9DB"/>
            </a:solidFill>
          </a:ln>
        </p:spPr>
        <p:txBody>
          <a:bodyPr wrap="square" lIns="60000" tIns="50000" rIns="60000" bIns="50000">
            <a:spAutoFit/>
          </a:bodyPr>
          <a:lstStyle/>
          <a:p>
            <a:r>
              <a:rPr sz="1100"/>
              <a:t>④ Δt=0.5s 分だけ計算を進める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0000" y="2150000"/>
            <a:ext cx="2180000" cy="900000"/>
          </a:xfrm>
          <a:prstGeom prst="rect">
            <a:avLst/>
          </a:prstGeom>
          <a:solidFill>
            <a:srgbClr val="EEF2FA"/>
          </a:solidFill>
          <a:ln w="9525">
            <a:solidFill>
              <a:srgbClr val="8EA9DB"/>
            </a:solidFill>
          </a:ln>
        </p:spPr>
        <p:txBody>
          <a:bodyPr wrap="square" lIns="60000" tIns="50000" rIns="60000" bIns="50000">
            <a:spAutoFit/>
          </a:bodyPr>
          <a:lstStyle/>
          <a:p>
            <a:r>
              <a:rPr sz="1100"/>
              <a:t>⑤ ①に戻る（NSTEPS 回繰り返す）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3200000"/>
            <a:ext cx="1122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結果（case1・case4 でテスト、cellZone porosity1 の体積平均ボイド率）</a:t>
            </a:r>
            <a:r>
              <a:rPr lang="ja-JP" altLang="en-US" sz="1500" b="1"/>
              <a:t>次ページに結果載せているのでそちら参照してください</a:t>
            </a:r>
            <a:endParaRPr sz="1500" b="1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795796"/>
              </p:ext>
            </p:extLst>
          </p:nvPr>
        </p:nvGraphicFramePr>
        <p:xfrm>
          <a:off x="485775" y="3620000"/>
          <a:ext cx="1122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333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ケース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実験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Lipinski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標準CFD（層内）α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recalculate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状況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case1（jG=1.45cm/s）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0.0763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0.0583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0.0576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0.063〜0.070</a:t>
                      </a:r>
                    </a:p>
                    <a:p>
                      <a:pPr>
                        <a:defRPr sz="1100"/>
                      </a:pPr>
                      <a:endParaRPr lang="en-US"/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標準CFDよりは実験に</a:t>
                      </a:r>
                      <a:r>
                        <a:rPr lang="ja-JP" altLang="en-US"/>
                        <a:t>多少</a:t>
                      </a:r>
                      <a:r>
                        <a:t>近づく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3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case4（jG=31.8cm/s）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0.4070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0.2037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0.3484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0.354〜0.358</a:t>
                      </a:r>
                    </a:p>
                    <a:p>
                      <a:pPr>
                        <a:defRPr sz="1100"/>
                      </a:pPr>
                      <a:r>
                        <a:t>（漸近）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標準CFDとほぼ同水準で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5775" y="5450000"/>
            <a:ext cx="1122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▪ 固定係数によるバイアスはある程度緩和されるが、実験値には届いていない</a:t>
            </a:r>
          </a:p>
          <a:p>
            <a:r>
              <a:rPr sz="1300" b="0"/>
              <a:t>▪ 圧力損失（dP/dz）への影響は次スライドで評価（case1・case4・case7）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85775" y="300000"/>
            <a:ext cx="1122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ループ後の圧力損失・ボイド率の4観点比較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5775" y="950000"/>
            <a:ext cx="1122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標準CFD・ループ後はともに層内（z=0.2〜0.9 m）の p 勾配と層内体積平均 α で統一して再計算（括弧内は実験値基準の誤差）。</a:t>
            </a:r>
          </a:p>
        </p:txBody>
      </p:sp>
      <p:sp>
        <p:nvSpPr>
          <p:cNvPr id="4" name="Heading dP"/>
          <p:cNvSpPr txBox="1"/>
          <p:nvPr/>
        </p:nvSpPr>
        <p:spPr>
          <a:xfrm>
            <a:off x="485775" y="1550000"/>
            <a:ext cx="112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圧力損失勾配 [kPa/m]</a:t>
            </a:r>
          </a:p>
        </p:txBody>
      </p:sp>
      <p:sp>
        <p:nvSpPr>
          <p:cNvPr id="5" name="Heading alpha"/>
          <p:cNvSpPr txBox="1"/>
          <p:nvPr/>
        </p:nvSpPr>
        <p:spPr>
          <a:xfrm>
            <a:off x="485775" y="3500000"/>
            <a:ext cx="112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層内ボイド率 α</a:t>
            </a:r>
          </a:p>
        </p:txBody>
      </p:sp>
      <p:graphicFrame>
        <p:nvGraphicFramePr>
          <p:cNvPr id="6" name="Table d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795796"/>
              </p:ext>
            </p:extLst>
          </p:nvPr>
        </p:nvGraphicFramePr>
        <p:xfrm>
          <a:off x="485775" y="1950000"/>
          <a:ext cx="1122000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ja-JP" sz="1200" b="1"/>
                        <a:t>ケース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実験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Lipinski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標準CFD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recalculate後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ja-JP" sz="1200"/>
                        <a:t>case1（jG=1.45cm/s）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52.51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67.53（+28.6%）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67.69（+28.9%）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68.17（+29.8%）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ja-JP" sz="1200"/>
                        <a:t>case4（jG=31.8cm/s）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111.62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102.18（−8.5%）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138.96（+24.5%）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128.42（+15.1%）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ja-JP" sz="1200"/>
                        <a:t>case7（jG=74.1cm/s）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140.69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143.16（+1.8%）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217.64（+54.7%）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209.98（+49.3%）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alph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795796"/>
              </p:ext>
            </p:extLst>
          </p:nvPr>
        </p:nvGraphicFramePr>
        <p:xfrm>
          <a:off x="485775" y="3900000"/>
          <a:ext cx="1122000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ja-JP" sz="1200" b="1"/>
                        <a:t>ケース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実験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Lipinski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標準CFD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sz="1200" b="1"/>
                        <a:t>recalculate後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ja-JP" sz="1200"/>
                        <a:t>case1（jG=1.45cm/s）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0.0763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0.0583（−23.6%）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0.0577（−24.4%）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0.0625（−18.1%）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ja-JP" sz="1200"/>
                        <a:t>case4（jG=31.8cm/s）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0.4070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0.2037（−50.0%）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0.3478（−14.5%）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0.3561（−12.5%）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ja-JP" sz="1200"/>
                        <a:t>case7（jG=74.1cm/s）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0.4905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0.3000（−38.8%）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0.4662（−5.0%）</a:t>
                      </a:r>
                    </a:p>
                  </a:txBody>
                  <a:tcPr marL="30000" marR="30000"/>
                </a:tc>
                <a:tc>
                  <a:txBody>
                    <a:bodyPr/>
                    <a:lstStyle/>
                    <a:p>
                      <a:r>
                        <a:rPr lang="ja-JP" sz="1200"/>
                        <a:t>0.4675（−4.7%）</a:t>
                      </a:r>
                    </a:p>
                  </a:txBody>
                  <a:tcPr marL="30000" marR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Notes"/>
          <p:cNvSpPr txBox="1"/>
          <p:nvPr/>
        </p:nvSpPr>
        <p:spPr>
          <a:xfrm>
            <a:off x="485775" y="5400000"/>
            <a:ext cx="1122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▪ ループ後は標準CFDより dP が下がる（case4: 139→128、case7: 218→210 kPa/m）が、過大評価は残る</a:t>
            </a:r>
          </a:p>
          <a:p>
            <a:r>
              <a:rPr sz="1300" b="0"/>
              <a:t>▪ α はループ後も標準からほぼ不変。case7 は α が実験に近い（−5%）のに dP は +49% で、α 固定だけが原因ではない可能性（考察）</a:t>
            </a:r>
          </a:p>
          <a:p>
            <a:r>
              <a:rPr sz="1300" b="0"/>
              <a:t>▪ 標準CFDの dP はスライド6の値と算出定義が異なる（case4: 150.43→138.96）。case7 は標準 t=8.5s（未収束）、ループ後 t=10.5s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300000"/>
            <a:ext cx="1122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/>
              <a:t>Lipinskiモデルの定式化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775" y="1050000"/>
            <a:ext cx="1122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液相・気相それぞれについて、Ergun 式に基づく圧力勾配を独立に評価する。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550000"/>
            <a:ext cx="112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液相： dP_L/dz = ρL・g  +  150・μL・jL・(1−ε)² / ((1−α)³・ε³・dp²)  +  1.75・(1−ε)・ρL・jL² / ((1−α)³・ε³・dp)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2000000"/>
            <a:ext cx="112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気相： dP_G/dz = ρG・g  +  150・μG・jG・(1−ε)² / (α³・ε³・dp²)  +  1.75・(1−ε)・ρG・jG² / (α³・ε³・dp)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2500000"/>
            <a:ext cx="1122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透過率・パサビリティは相対浸透率モデルとして体積分率の3乗則で表す：k_L=η_L=(1−α)³、k_G=η_G=α³
（Lipinski 原論文の指数。OpenFOAM 側の Darcy-Forchheimer 実装は 2乗・1乗であり、この指数の違いが結果の乖離要因の一つと考えられる）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3350000"/>
            <a:ext cx="112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ボイド率 α の決定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3780000"/>
            <a:ext cx="1122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気相・液相は同じ充填層断面を流れるため、実際の圧力勾配は両相で一致するはずである。
したがって、残差 f(α) = dP_L/dz(α) − dP_G/dz(α) = 0 となる α を解く。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5775" y="4600000"/>
          <a:ext cx="1122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33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解法</a:t>
                      </a:r>
                    </a:p>
                  </a:txBody>
                  <a:tcPr marL="50000" marR="500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実装内容</a:t>
                      </a:r>
                    </a:p>
                  </a:txBody>
                  <a:tcPr marL="50000" marR="5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ニュートン法</a:t>
                      </a:r>
                    </a:p>
                  </a:txBody>
                  <a:tcPr marL="50000" marR="50000"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差分近似で df/dα を評価し α を更新。収束判定 |f(α)| &lt; 1e-6</a:t>
                      </a:r>
                    </a:p>
                  </a:txBody>
                  <a:tcPr marL="50000" marR="5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3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緩和法（under-relaxation）</a:t>
                      </a:r>
                    </a:p>
                  </a:txBody>
                  <a:tcPr marL="50000" marR="50000"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相対誤差 (dP_L−dP_G)/dP_L を評価し α ← α − ω・相対誤差（ω=0.05）で更新。収束判定 |相対誤差| &lt; 1e-6</a:t>
                      </a:r>
                    </a:p>
                  </a:txBody>
                  <a:tcPr marL="50000" marR="5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5775" y="5750000"/>
            <a:ext cx="1122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収束した α における dP/dz（液相・気相どちらで計算しても同一）が、Lipinski モデルによる圧力損失の予測値となる。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367</TotalTime>
  <Words>1532</Words>
  <Application>Microsoft Office PowerPoint</Application>
  <PresentationFormat>ワイド画面</PresentationFormat>
  <Paragraphs>293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ito.mayumu.86i@st.kyoto-u.ac.jp</dc:creator>
  <cp:lastModifiedBy>ito.mayumu.86i@st.kyoto-u.ac.jp</cp:lastModifiedBy>
  <cp:revision>3</cp:revision>
  <dcterms:created xsi:type="dcterms:W3CDTF">2026-09-24T07:15:42Z</dcterms:created>
  <dcterms:modified xsi:type="dcterms:W3CDTF">2026-10-06T08:34:10Z</dcterms:modified>
</cp:coreProperties>
</file>