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12191695"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1371600"/>
          </a:xfrm>
          <a:prstGeom prst="rect">
            <a:avLst/>
          </a:prstGeom>
          <a:noFill/>
        </p:spPr>
        <p:txBody>
          <a:bodyPr wrap="square">
            <a:spAutoFit/>
          </a:bodyPr>
          <a:lstStyle/>
          <a:p>
            <a:r>
              <a:rPr sz="4000" b="1">
                <a:solidFill>
                  <a:srgbClr val="FFFFFF"/>
                </a:solidFill>
              </a:rPr>
              <a:t>充填層内 気液二相流の数値解析</a:t>
            </a:r>
          </a:p>
        </p:txBody>
      </p:sp>
      <p:sp>
        <p:nvSpPr>
          <p:cNvPr id="5" name="TextBox 4"/>
          <p:cNvSpPr txBox="1"/>
          <p:nvPr/>
        </p:nvSpPr>
        <p:spPr>
          <a:xfrm>
            <a:off x="822960" y="3246120"/>
            <a:ext cx="10515600" cy="640080"/>
          </a:xfrm>
          <a:prstGeom prst="rect">
            <a:avLst/>
          </a:prstGeom>
          <a:noFill/>
        </p:spPr>
        <p:txBody>
          <a:bodyPr wrap="none">
            <a:spAutoFit/>
          </a:bodyPr>
          <a:lstStyle/>
          <a:p>
            <a:r>
              <a:rPr sz="1800">
                <a:solidFill>
                  <a:srgbClr val="C8C7C0"/>
                </a:solidFill>
              </a:rPr>
              <a:t>実験・Lipinski モデル・OpenFOAM の比較 ── 研究進捗報告</a:t>
            </a:r>
          </a:p>
        </p:txBody>
      </p:sp>
      <p:sp>
        <p:nvSpPr>
          <p:cNvPr id="6" name="TextBox 5"/>
          <p:cNvSpPr txBox="1"/>
          <p:nvPr/>
        </p:nvSpPr>
        <p:spPr>
          <a:xfrm>
            <a:off x="822960" y="4846320"/>
            <a:ext cx="7315200" cy="457200"/>
          </a:xfrm>
          <a:prstGeom prst="rect">
            <a:avLst/>
          </a:prstGeom>
          <a:noFill/>
        </p:spPr>
        <p:txBody>
          <a:bodyPr wrap="none">
            <a:spAutoFit/>
          </a:bodyPr>
          <a:lstStyle/>
          <a:p>
            <a:r>
              <a:rPr sz="1300">
                <a:solidFill>
                  <a:srgbClr val="8A8982"/>
                </a:solidFill>
              </a:rPr>
              <a:t>Packed Bed Two-Phase Flow ／ myTwoPhaseEulerFoam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OVERVIEW</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1. 概要</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0"/>
            <a:ext cx="11064240" cy="4389120"/>
          </a:xfrm>
          <a:prstGeom prst="rect">
            <a:avLst/>
          </a:prstGeom>
          <a:noFill/>
        </p:spPr>
        <p:txBody>
          <a:bodyPr wrap="square">
            <a:spAutoFit/>
          </a:bodyPr>
          <a:lstStyle/>
          <a:p>
            <a:pPr>
              <a:lnSpc>
                <a:spcPct val="125000"/>
              </a:lnSpc>
              <a:spcAft>
                <a:spcPts val="800"/>
              </a:spcAft>
            </a:pPr>
            <a:r>
              <a:rPr sz="1800">
                <a:solidFill>
                  <a:srgbClr val="0B0B0B"/>
                </a:solidFill>
              </a:rPr>
              <a:t>▪ 円管充填層を上昇する気液二相流について、充填層の圧力損失を評価</a:t>
            </a:r>
          </a:p>
          <a:p>
            <a:pPr>
              <a:lnSpc>
                <a:spcPct val="125000"/>
              </a:lnSpc>
              <a:spcAft>
                <a:spcPts val="800"/>
              </a:spcAft>
            </a:pPr>
            <a:r>
              <a:rPr sz="1800">
                <a:solidFill>
                  <a:srgbClr val="0B0B0B"/>
                </a:solidFill>
              </a:rPr>
              <a:t>▪ 液流束 jL ≈ 10 cm/s で一定、気流束 jG を 1.45〜103.9 cm/s の 8 水準に振ったパラメータスタディ</a:t>
            </a:r>
          </a:p>
        </p:txBody>
      </p:sp>
      <p:sp>
        <p:nvSpPr>
          <p:cNvPr id="6" name="TextBox 5"/>
          <p:cNvSpPr txBox="1"/>
          <p:nvPr/>
        </p:nvSpPr>
        <p:spPr>
          <a:xfrm>
            <a:off x="548640" y="2834640"/>
            <a:ext cx="11064240" cy="365760"/>
          </a:xfrm>
          <a:prstGeom prst="rect">
            <a:avLst/>
          </a:prstGeom>
          <a:noFill/>
        </p:spPr>
        <p:txBody>
          <a:bodyPr wrap="none">
            <a:spAutoFit/>
          </a:bodyPr>
          <a:lstStyle/>
          <a:p>
            <a:r>
              <a:rPr sz="1600" b="1">
                <a:solidFill>
                  <a:srgbClr val="0B0B0B"/>
                </a:solidFill>
              </a:rPr>
              <a:t>評価は次の 3 手法で実施し、相互比較する</a:t>
            </a:r>
          </a:p>
        </p:txBody>
      </p:sp>
      <p:sp>
        <p:nvSpPr>
          <p:cNvPr id="7" name="Rounded Rectangle 6"/>
          <p:cNvSpPr/>
          <p:nvPr/>
        </p:nvSpPr>
        <p:spPr>
          <a:xfrm>
            <a:off x="548640" y="3383280"/>
            <a:ext cx="3520440" cy="2377440"/>
          </a:xfrm>
          <a:prstGeom prst="roundRect">
            <a:avLst/>
          </a:prstGeom>
          <a:solidFill>
            <a:srgbClr val="F2F1EC"/>
          </a:solidFill>
          <a:ln w="19050">
            <a:solidFill>
              <a:srgbClr val="0B0B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383280"/>
            <a:ext cx="3520440" cy="109728"/>
          </a:xfrm>
          <a:prstGeom prst="rect">
            <a:avLst/>
          </a:prstGeom>
          <a:solidFill>
            <a:srgbClr val="0B0B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11880"/>
            <a:ext cx="3154680" cy="2103120"/>
          </a:xfrm>
          <a:prstGeom prst="rect">
            <a:avLst/>
          </a:prstGeom>
          <a:noFill/>
        </p:spPr>
        <p:txBody>
          <a:bodyPr wrap="square">
            <a:spAutoFit/>
          </a:bodyPr>
          <a:lstStyle/>
          <a:p>
            <a:r>
              <a:rPr sz="1800" b="1">
                <a:solidFill>
                  <a:srgbClr val="0B0B0B"/>
                </a:solidFill>
              </a:rPr>
              <a:t>実験</a:t>
            </a:r>
          </a:p>
          <a:p>
            <a:pPr>
              <a:lnSpc>
                <a:spcPct val="130000"/>
              </a:lnSpc>
              <a:spcBef>
                <a:spcPts val="1000"/>
              </a:spcBef>
            </a:pPr>
            <a:r>
              <a:rPr sz="1300">
                <a:solidFill>
                  <a:srgbClr val="52514E"/>
                </a:solidFill>
              </a:rPr>
              <a:t>圧力タップ間隔 0.1 m の差圧計測
（8 条件すべて取得済み）</a:t>
            </a:r>
          </a:p>
        </p:txBody>
      </p:sp>
      <p:sp>
        <p:nvSpPr>
          <p:cNvPr id="10" name="Rounded Rectangle 9"/>
          <p:cNvSpPr/>
          <p:nvPr/>
        </p:nvSpPr>
        <p:spPr>
          <a:xfrm>
            <a:off x="4343400" y="3383280"/>
            <a:ext cx="3520440" cy="2377440"/>
          </a:xfrm>
          <a:prstGeom prst="roundRect">
            <a:avLst/>
          </a:prstGeom>
          <a:solidFill>
            <a:srgbClr val="F2F1EC"/>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3383280"/>
            <a:ext cx="3520440"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611880"/>
            <a:ext cx="3154680" cy="2103120"/>
          </a:xfrm>
          <a:prstGeom prst="rect">
            <a:avLst/>
          </a:prstGeom>
          <a:noFill/>
        </p:spPr>
        <p:txBody>
          <a:bodyPr wrap="square">
            <a:spAutoFit/>
          </a:bodyPr>
          <a:lstStyle/>
          <a:p>
            <a:r>
              <a:rPr sz="1800" b="1">
                <a:solidFill>
                  <a:srgbClr val="2A78D6"/>
                </a:solidFill>
              </a:rPr>
              <a:t>Lipinski モデル</a:t>
            </a:r>
          </a:p>
          <a:p>
            <a:pPr>
              <a:lnSpc>
                <a:spcPct val="130000"/>
              </a:lnSpc>
              <a:spcBef>
                <a:spcPts val="1000"/>
              </a:spcBef>
            </a:pPr>
            <a:r>
              <a:rPr sz="1300">
                <a:solidFill>
                  <a:srgbClr val="52514E"/>
                </a:solidFill>
              </a:rPr>
              <a:t>1 次元の相間釣り合いから
ボイド率と圧力勾配を解く
(calculation/lipinski.cpp)</a:t>
            </a:r>
          </a:p>
        </p:txBody>
      </p:sp>
      <p:sp>
        <p:nvSpPr>
          <p:cNvPr id="13" name="Rounded Rectangle 12"/>
          <p:cNvSpPr/>
          <p:nvPr/>
        </p:nvSpPr>
        <p:spPr>
          <a:xfrm>
            <a:off x="8138160" y="3383280"/>
            <a:ext cx="3520440" cy="2377440"/>
          </a:xfrm>
          <a:prstGeom prst="roundRect">
            <a:avLst/>
          </a:prstGeom>
          <a:solidFill>
            <a:srgbClr val="F2F1EC"/>
          </a:solidFill>
          <a:ln w="1905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3383280"/>
            <a:ext cx="3520440" cy="109728"/>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3611880"/>
            <a:ext cx="3154680" cy="2103120"/>
          </a:xfrm>
          <a:prstGeom prst="rect">
            <a:avLst/>
          </a:prstGeom>
          <a:noFill/>
        </p:spPr>
        <p:txBody>
          <a:bodyPr wrap="square">
            <a:spAutoFit/>
          </a:bodyPr>
          <a:lstStyle/>
          <a:p>
            <a:r>
              <a:rPr sz="1800" b="1">
                <a:solidFill>
                  <a:srgbClr val="EB6834"/>
                </a:solidFill>
              </a:rPr>
              <a:t>OpenFOAM</a:t>
            </a:r>
          </a:p>
          <a:p>
            <a:pPr>
              <a:lnSpc>
                <a:spcPct val="130000"/>
              </a:lnSpc>
              <a:spcBef>
                <a:spcPts val="1000"/>
              </a:spcBef>
            </a:pPr>
            <a:r>
              <a:rPr sz="1300">
                <a:solidFill>
                  <a:srgbClr val="52514E"/>
                </a:solidFill>
              </a:rPr>
              <a:t>Euler-Euler 二流体モデル
＋ Darcy-Forchheimer 多孔質抵抗
（自作ソルバ myTwoPhaseEulerFoam）</a:t>
            </a:r>
          </a:p>
        </p:txBody>
      </p:sp>
      <p:sp>
        <p:nvSpPr>
          <p:cNvPr id="16" name="TextBox 15"/>
          <p:cNvSpPr txBox="1"/>
          <p:nvPr/>
        </p:nvSpPr>
        <p:spPr>
          <a:xfrm>
            <a:off x="11521440" y="6492240"/>
            <a:ext cx="548640" cy="274320"/>
          </a:xfrm>
          <a:prstGeom prst="rect">
            <a:avLst/>
          </a:prstGeom>
          <a:noFill/>
        </p:spPr>
        <p:txBody>
          <a:bodyPr wrap="none">
            <a:spAutoFit/>
          </a:bodyPr>
          <a:lstStyle/>
          <a:p>
            <a:r>
              <a:rPr sz="1000">
                <a:solidFill>
                  <a:srgbClr val="52514E"/>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KEY FINDINGS</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主な結論</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11064240" cy="4389120"/>
          </a:xfrm>
          <a:prstGeom prst="rect">
            <a:avLst/>
          </a:prstGeom>
          <a:noFill/>
        </p:spPr>
        <p:txBody>
          <a:bodyPr wrap="square">
            <a:spAutoFit/>
          </a:bodyPr>
          <a:lstStyle/>
          <a:p>
            <a:pPr>
              <a:lnSpc>
                <a:spcPct val="140000"/>
              </a:lnSpc>
              <a:spcAft>
                <a:spcPts val="800"/>
              </a:spcAft>
            </a:pPr>
            <a:r>
              <a:rPr sz="1900">
                <a:solidFill>
                  <a:srgbClr val="0B0B0B"/>
                </a:solidFill>
              </a:rPr>
              <a:t>▪ Lipinski モデルは圧力損失を case2〜8 で ±9 % 以内で再現するが、ボイド率は 35〜55 % 過小評価する</a:t>
            </a:r>
          </a:p>
          <a:p>
            <a:pPr>
              <a:lnSpc>
                <a:spcPct val="140000"/>
              </a:lnSpc>
              <a:spcAft>
                <a:spcPts val="800"/>
              </a:spcAft>
            </a:pPr>
            <a:r>
              <a:rPr sz="1900">
                <a:solidFill>
                  <a:srgbClr val="0B0B0B"/>
                </a:solidFill>
              </a:rPr>
              <a:t>▪ OpenFOAM は圧力損失を 19〜62 % 過大評価する。原因は実験ボイド率を多孔質係数に直接投入したことによる補正の過大と考えられる</a:t>
            </a:r>
          </a:p>
          <a:p>
            <a:pPr>
              <a:lnSpc>
                <a:spcPct val="140000"/>
              </a:lnSpc>
              <a:spcAft>
                <a:spcPts val="800"/>
              </a:spcAft>
            </a:pPr>
            <a:r>
              <a:rPr sz="1900">
                <a:solidFill>
                  <a:srgbClr val="0B0B0B"/>
                </a:solidFill>
              </a:rPr>
              <a:t>▪ Lipinski の圧力損失の一致は、ボイド率の過小評価と補正の過大が相殺した結果である可能性が高い</a:t>
            </a:r>
          </a:p>
          <a:p>
            <a:pPr>
              <a:lnSpc>
                <a:spcPct val="140000"/>
              </a:lnSpc>
              <a:spcAft>
                <a:spcPts val="800"/>
              </a:spcAft>
            </a:pPr>
            <a:r>
              <a:rPr sz="1900">
                <a:solidFill>
                  <a:srgbClr val="0B0B0B"/>
                </a:solidFill>
              </a:rPr>
              <a:t>▪ 気相のみ 1 次元推定より 31〜52 % 速く、充填層内でチャネリングを起こしている。液相は 1 次元推定と完全に一致する</a:t>
            </a:r>
          </a:p>
        </p:txBody>
      </p:sp>
      <p:sp>
        <p:nvSpPr>
          <p:cNvPr id="6" name="TextBox 5"/>
          <p:cNvSpPr txBox="1"/>
          <p:nvPr/>
        </p:nvSpPr>
        <p:spPr>
          <a:xfrm>
            <a:off x="11521440" y="6492240"/>
            <a:ext cx="548640" cy="274320"/>
          </a:xfrm>
          <a:prstGeom prst="rect">
            <a:avLst/>
          </a:prstGeom>
          <a:noFill/>
        </p:spPr>
        <p:txBody>
          <a:bodyPr wrap="none">
            <a:spAutoFit/>
          </a:bodyPr>
          <a:lstStyle/>
          <a:p>
            <a:r>
              <a:rPr sz="1000">
                <a:solidFill>
                  <a:srgbClr val="52514E"/>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METHOD</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2.1 計算体系</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828800"/>
          <a:ext cx="10972800" cy="4023360"/>
        </p:xfrm>
        <a:graphic>
          <a:graphicData uri="http://schemas.openxmlformats.org/drawingml/2006/table">
            <a:tbl>
              <a:tblPr firstRow="1" bandRow="1">
                <a:tableStyleId>{5C22544A-7EE6-4342-B048-85BDC9FD1C3A}</a:tableStyleId>
              </a:tblPr>
              <a:tblGrid>
                <a:gridCol w="2743200"/>
                <a:gridCol w="8229600"/>
              </a:tblGrid>
              <a:tr h="502920">
                <a:tc>
                  <a:txBody>
                    <a:bodyPr/>
                    <a:lstStyle/>
                    <a:p>
                      <a:pPr algn="ctr"/>
                      <a:r>
                        <a:rPr sz="1300" b="1">
                          <a:solidFill>
                            <a:srgbClr val="FFFFFF"/>
                          </a:solidFill>
                        </a:rPr>
                        <a:t>項目</a:t>
                      </a:r>
                    </a:p>
                  </a:txBody>
                  <a:tcPr marL="54864" marR="54864" marT="18288" marB="18288" anchor="ctr">
                    <a:solidFill>
                      <a:srgbClr val="2A78D6"/>
                    </a:solidFill>
                  </a:tcPr>
                </a:tc>
                <a:tc>
                  <a:txBody>
                    <a:bodyPr/>
                    <a:lstStyle/>
                    <a:p>
                      <a:pPr algn="ctr"/>
                      <a:r>
                        <a:rPr sz="1300" b="1">
                          <a:solidFill>
                            <a:srgbClr val="FFFFFF"/>
                          </a:solidFill>
                        </a:rPr>
                        <a:t>内容</a:t>
                      </a:r>
                    </a:p>
                  </a:txBody>
                  <a:tcPr marL="54864" marR="54864" marT="18288" marB="18288" anchor="ctr">
                    <a:solidFill>
                      <a:srgbClr val="2A78D6"/>
                    </a:solidFill>
                  </a:tcPr>
                </a:tc>
              </a:tr>
              <a:tr h="502920">
                <a:tc>
                  <a:txBody>
                    <a:bodyPr/>
                    <a:lstStyle/>
                    <a:p>
                      <a:pPr algn="ctr"/>
                      <a:r>
                        <a:rPr sz="1300">
                          <a:solidFill>
                            <a:srgbClr val="0B0B0B"/>
                          </a:solidFill>
                        </a:rPr>
                        <a:t>ソルバ</a:t>
                      </a:r>
                    </a:p>
                  </a:txBody>
                  <a:tcPr marL="54864" marR="54864" marT="18288" marB="18288" anchor="ctr">
                    <a:solidFill>
                      <a:srgbClr val="FFFFFF"/>
                    </a:solidFill>
                  </a:tcPr>
                </a:tc>
                <a:tc>
                  <a:txBody>
                    <a:bodyPr/>
                    <a:lstStyle/>
                    <a:p>
                      <a:pPr algn="ctr"/>
                      <a:r>
                        <a:rPr sz="1300">
                          <a:solidFill>
                            <a:srgbClr val="0B0B0B"/>
                          </a:solidFill>
                        </a:rPr>
                        <a:t>myTwoPhaseEulerFoam（OpenFOAM v2412 ベースの自作）</a:t>
                      </a:r>
                    </a:p>
                  </a:txBody>
                  <a:tcPr marL="54864" marR="54864" marT="18288" marB="18288" anchor="ctr">
                    <a:solidFill>
                      <a:srgbClr val="FFFFFF"/>
                    </a:solidFill>
                  </a:tcPr>
                </a:tc>
              </a:tr>
              <a:tr h="502920">
                <a:tc>
                  <a:txBody>
                    <a:bodyPr/>
                    <a:lstStyle/>
                    <a:p>
                      <a:pPr algn="ctr"/>
                      <a:r>
                        <a:rPr sz="1300">
                          <a:solidFill>
                            <a:srgbClr val="0B0B0B"/>
                          </a:solidFill>
                        </a:rPr>
                        <a:t>定式化</a:t>
                      </a:r>
                    </a:p>
                  </a:txBody>
                  <a:tcPr marL="54864" marR="54864" marT="18288" marB="18288" anchor="ctr">
                    <a:solidFill>
                      <a:srgbClr val="F2F1EC"/>
                    </a:solidFill>
                  </a:tcPr>
                </a:tc>
                <a:tc>
                  <a:txBody>
                    <a:bodyPr/>
                    <a:lstStyle/>
                    <a:p>
                      <a:pPr algn="ctr"/>
                      <a:r>
                        <a:rPr sz="1300">
                          <a:solidFill>
                            <a:srgbClr val="0B0B0B"/>
                          </a:solidFill>
                        </a:rPr>
                        <a:t>Euler-Euler 二流体モデル（相ごとに運動量・エネルギー方程式）</a:t>
                      </a:r>
                    </a:p>
                  </a:txBody>
                  <a:tcPr marL="54864" marR="54864" marT="18288" marB="18288" anchor="ctr">
                    <a:solidFill>
                      <a:srgbClr val="F2F1EC"/>
                    </a:solidFill>
                  </a:tcPr>
                </a:tc>
              </a:tr>
              <a:tr h="502920">
                <a:tc>
                  <a:txBody>
                    <a:bodyPr/>
                    <a:lstStyle/>
                    <a:p>
                      <a:pPr algn="ctr"/>
                      <a:r>
                        <a:rPr sz="1300">
                          <a:solidFill>
                            <a:srgbClr val="0B0B0B"/>
                          </a:solidFill>
                        </a:rPr>
                        <a:t>相</a:t>
                      </a:r>
                    </a:p>
                  </a:txBody>
                  <a:tcPr marL="54864" marR="54864" marT="18288" marB="18288" anchor="ctr">
                    <a:solidFill>
                      <a:srgbClr val="FFFFFF"/>
                    </a:solidFill>
                  </a:tcPr>
                </a:tc>
                <a:tc>
                  <a:txBody>
                    <a:bodyPr/>
                    <a:lstStyle/>
                    <a:p>
                      <a:pPr algn="ctr"/>
                      <a:r>
                        <a:rPr sz="1300">
                          <a:solidFill>
                            <a:srgbClr val="0B0B0B"/>
                          </a:solidFill>
                        </a:rPr>
                        <a:t>air（気相）／ water（液相）</a:t>
                      </a:r>
                    </a:p>
                  </a:txBody>
                  <a:tcPr marL="54864" marR="54864" marT="18288" marB="18288" anchor="ctr">
                    <a:solidFill>
                      <a:srgbClr val="FFFFFF"/>
                    </a:solidFill>
                  </a:tcPr>
                </a:tc>
              </a:tr>
              <a:tr h="502920">
                <a:tc>
                  <a:txBody>
                    <a:bodyPr/>
                    <a:lstStyle/>
                    <a:p>
                      <a:pPr algn="ctr"/>
                      <a:r>
                        <a:rPr sz="1300">
                          <a:solidFill>
                            <a:srgbClr val="0B0B0B"/>
                          </a:solidFill>
                        </a:rPr>
                        <a:t>圧力</a:t>
                      </a:r>
                    </a:p>
                  </a:txBody>
                  <a:tcPr marL="54864" marR="54864" marT="18288" marB="18288" anchor="ctr">
                    <a:solidFill>
                      <a:srgbClr val="F2F1EC"/>
                    </a:solidFill>
                  </a:tcPr>
                </a:tc>
                <a:tc>
                  <a:txBody>
                    <a:bodyPr/>
                    <a:lstStyle/>
                    <a:p>
                      <a:pPr algn="ctr"/>
                      <a:r>
                        <a:rPr sz="1300">
                          <a:solidFill>
                            <a:srgbClr val="0B0B0B"/>
                          </a:solidFill>
                        </a:rPr>
                        <a:t>全相共有の単一圧力場（p_rgh を解いて p を導出）</a:t>
                      </a:r>
                    </a:p>
                  </a:txBody>
                  <a:tcPr marL="54864" marR="54864" marT="18288" marB="18288" anchor="ctr">
                    <a:solidFill>
                      <a:srgbClr val="F2F1EC"/>
                    </a:solidFill>
                  </a:tcPr>
                </a:tc>
              </a:tr>
              <a:tr h="502920">
                <a:tc>
                  <a:txBody>
                    <a:bodyPr/>
                    <a:lstStyle/>
                    <a:p>
                      <a:pPr algn="ctr"/>
                      <a:r>
                        <a:rPr sz="1300">
                          <a:solidFill>
                            <a:srgbClr val="0B0B0B"/>
                          </a:solidFill>
                        </a:rPr>
                        <a:t>エネルギー</a:t>
                      </a:r>
                    </a:p>
                  </a:txBody>
                  <a:tcPr marL="54864" marR="54864" marT="18288" marB="18288" anchor="ctr">
                    <a:solidFill>
                      <a:srgbClr val="FFFFFF"/>
                    </a:solidFill>
                  </a:tcPr>
                </a:tc>
                <a:tc>
                  <a:txBody>
                    <a:bodyPr/>
                    <a:lstStyle/>
                    <a:p>
                      <a:pPr algn="ctr"/>
                      <a:r>
                        <a:rPr sz="1300">
                          <a:solidFill>
                            <a:srgbClr val="0B0B0B"/>
                          </a:solidFill>
                        </a:rPr>
                        <a:t>sensibleInternalEnergy（e.air / e.water）</a:t>
                      </a:r>
                    </a:p>
                  </a:txBody>
                  <a:tcPr marL="54864" marR="54864" marT="18288" marB="18288" anchor="ctr">
                    <a:solidFill>
                      <a:srgbClr val="FFFFFF"/>
                    </a:solidFill>
                  </a:tcPr>
                </a:tc>
              </a:tr>
              <a:tr h="502920">
                <a:tc>
                  <a:txBody>
                    <a:bodyPr/>
                    <a:lstStyle/>
                    <a:p>
                      <a:pPr algn="ctr"/>
                      <a:r>
                        <a:rPr sz="1300">
                          <a:solidFill>
                            <a:srgbClr val="0B0B0B"/>
                          </a:solidFill>
                        </a:rPr>
                        <a:t>乱流モデル</a:t>
                      </a:r>
                    </a:p>
                  </a:txBody>
                  <a:tcPr marL="54864" marR="54864" marT="18288" marB="18288" anchor="ctr">
                    <a:solidFill>
                      <a:srgbClr val="F2F1EC"/>
                    </a:solidFill>
                  </a:tcPr>
                </a:tc>
                <a:tc>
                  <a:txBody>
                    <a:bodyPr/>
                    <a:lstStyle/>
                    <a:p>
                      <a:pPr algn="ctr"/>
                      <a:r>
                        <a:rPr sz="1300">
                          <a:solidFill>
                            <a:srgbClr val="0B0B0B"/>
                          </a:solidFill>
                        </a:rPr>
                        <a:t>両相とも laminar（乱流モデルなし）</a:t>
                      </a:r>
                    </a:p>
                  </a:txBody>
                  <a:tcPr marL="54864" marR="54864" marT="18288" marB="18288" anchor="ctr">
                    <a:solidFill>
                      <a:srgbClr val="F2F1EC"/>
                    </a:solidFill>
                  </a:tcPr>
                </a:tc>
              </a:tr>
              <a:tr h="502920">
                <a:tc>
                  <a:txBody>
                    <a:bodyPr/>
                    <a:lstStyle/>
                    <a:p>
                      <a:pPr algn="ctr"/>
                      <a:r>
                        <a:rPr sz="1300">
                          <a:solidFill>
                            <a:srgbClr val="0B0B0B"/>
                          </a:solidFill>
                        </a:rPr>
                        <a:t>重力</a:t>
                      </a:r>
                    </a:p>
                  </a:txBody>
                  <a:tcPr marL="54864" marR="54864" marT="18288" marB="18288" anchor="ctr">
                    <a:solidFill>
                      <a:srgbClr val="FFFFFF"/>
                    </a:solidFill>
                  </a:tcPr>
                </a:tc>
                <a:tc>
                  <a:txBody>
                    <a:bodyPr/>
                    <a:lstStyle/>
                    <a:p>
                      <a:pPr algn="ctr"/>
                      <a:r>
                        <a:rPr sz="1300">
                          <a:solidFill>
                            <a:srgbClr val="0B0B0B"/>
                          </a:solidFill>
                        </a:rPr>
                        <a:t>(0, 0, −9.81) m/s²　→　流れは +Z の上向き（重力に逆らう上昇流）</a:t>
                      </a:r>
                    </a:p>
                  </a:txBody>
                  <a:tcPr marL="54864" marR="54864" marT="18288" marB="18288" anchor="ctr">
                    <a:solidFill>
                      <a:srgbClr val="FFFFFF"/>
                    </a:solidFill>
                  </a:tcPr>
                </a:tc>
              </a:tr>
            </a:tbl>
          </a:graphicData>
        </a:graphic>
      </p:graphicFrame>
      <p:sp>
        <p:nvSpPr>
          <p:cNvPr id="6" name="TextBox 5"/>
          <p:cNvSpPr txBox="1"/>
          <p:nvPr/>
        </p:nvSpPr>
        <p:spPr>
          <a:xfrm>
            <a:off x="11521440" y="6492240"/>
            <a:ext cx="548640" cy="274320"/>
          </a:xfrm>
          <a:prstGeom prst="rect">
            <a:avLst/>
          </a:prstGeom>
          <a:noFill/>
        </p:spPr>
        <p:txBody>
          <a:bodyPr wrap="none">
            <a:spAutoFit/>
          </a:bodyPr>
          <a:lstStyle/>
          <a:p>
            <a:r>
              <a:rPr sz="1000">
                <a:solidFill>
                  <a:srgbClr val="52514E"/>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METHOD</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2.2 形状・メッシュ</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737360"/>
          <a:ext cx="10972800" cy="4114800"/>
        </p:xfrm>
        <a:graphic>
          <a:graphicData uri="http://schemas.openxmlformats.org/drawingml/2006/table">
            <a:tbl>
              <a:tblPr firstRow="1" bandRow="1">
                <a:tableStyleId>{5C22544A-7EE6-4342-B048-85BDC9FD1C3A}</a:tableStyleId>
              </a:tblPr>
              <a:tblGrid>
                <a:gridCol w="3200400"/>
                <a:gridCol w="7772400"/>
              </a:tblGrid>
              <a:tr h="457200">
                <a:tc>
                  <a:txBody>
                    <a:bodyPr/>
                    <a:lstStyle/>
                    <a:p>
                      <a:pPr algn="ctr"/>
                      <a:r>
                        <a:rPr sz="1300" b="1">
                          <a:solidFill>
                            <a:srgbClr val="FFFFFF"/>
                          </a:solidFill>
                        </a:rPr>
                        <a:t>項目</a:t>
                      </a:r>
                    </a:p>
                  </a:txBody>
                  <a:tcPr marL="54864" marR="54864" marT="18288" marB="18288" anchor="ctr">
                    <a:solidFill>
                      <a:srgbClr val="2A78D6"/>
                    </a:solidFill>
                  </a:tcPr>
                </a:tc>
                <a:tc>
                  <a:txBody>
                    <a:bodyPr/>
                    <a:lstStyle/>
                    <a:p>
                      <a:pPr algn="ctr"/>
                      <a:r>
                        <a:rPr sz="1300" b="1">
                          <a:solidFill>
                            <a:srgbClr val="FFFFFF"/>
                          </a:solidFill>
                        </a:rPr>
                        <a:t>内容</a:t>
                      </a:r>
                    </a:p>
                  </a:txBody>
                  <a:tcPr marL="54864" marR="54864" marT="18288" marB="18288" anchor="ctr">
                    <a:solidFill>
                      <a:srgbClr val="2A78D6"/>
                    </a:solidFill>
                  </a:tcPr>
                </a:tc>
              </a:tr>
              <a:tr h="457200">
                <a:tc>
                  <a:txBody>
                    <a:bodyPr/>
                    <a:lstStyle/>
                    <a:p>
                      <a:pPr algn="ctr"/>
                      <a:r>
                        <a:rPr sz="1300">
                          <a:solidFill>
                            <a:srgbClr val="0B0B0B"/>
                          </a:solidFill>
                        </a:rPr>
                        <a:t>形状</a:t>
                      </a:r>
                    </a:p>
                  </a:txBody>
                  <a:tcPr marL="54864" marR="54864" marT="18288" marB="18288" anchor="ctr">
                    <a:solidFill>
                      <a:srgbClr val="FFFFFF"/>
                    </a:solidFill>
                  </a:tcPr>
                </a:tc>
                <a:tc>
                  <a:txBody>
                    <a:bodyPr/>
                    <a:lstStyle/>
                    <a:p>
                      <a:pPr algn="ctr"/>
                      <a:r>
                        <a:rPr sz="1300">
                          <a:solidFill>
                            <a:srgbClr val="0B0B0B"/>
                          </a:solidFill>
                        </a:rPr>
                        <a:t>円管（O-grid 5 ブロック）</a:t>
                      </a:r>
                    </a:p>
                  </a:txBody>
                  <a:tcPr marL="54864" marR="54864" marT="18288" marB="18288" anchor="ctr">
                    <a:solidFill>
                      <a:srgbClr val="FFFFFF"/>
                    </a:solidFill>
                  </a:tcPr>
                </a:tc>
              </a:tr>
              <a:tr h="457200">
                <a:tc>
                  <a:txBody>
                    <a:bodyPr/>
                    <a:lstStyle/>
                    <a:p>
                      <a:pPr algn="ctr"/>
                      <a:r>
                        <a:rPr sz="1300">
                          <a:solidFill>
                            <a:srgbClr val="0B0B0B"/>
                          </a:solidFill>
                        </a:rPr>
                        <a:t>内径 / 全長</a:t>
                      </a:r>
                    </a:p>
                  </a:txBody>
                  <a:tcPr marL="54864" marR="54864" marT="18288" marB="18288" anchor="ctr">
                    <a:solidFill>
                      <a:srgbClr val="F2F1EC"/>
                    </a:solidFill>
                  </a:tcPr>
                </a:tc>
                <a:tc>
                  <a:txBody>
                    <a:bodyPr/>
                    <a:lstStyle/>
                    <a:p>
                      <a:pPr algn="ctr"/>
                      <a:r>
                        <a:rPr sz="1300">
                          <a:solidFill>
                            <a:srgbClr val="0B0B0B"/>
                          </a:solidFill>
                        </a:rPr>
                        <a:t>50 mm ／ 1000 mm</a:t>
                      </a:r>
                    </a:p>
                  </a:txBody>
                  <a:tcPr marL="54864" marR="54864" marT="18288" marB="18288" anchor="ctr">
                    <a:solidFill>
                      <a:srgbClr val="F2F1EC"/>
                    </a:solidFill>
                  </a:tcPr>
                </a:tc>
              </a:tr>
              <a:tr h="457200">
                <a:tc>
                  <a:txBody>
                    <a:bodyPr/>
                    <a:lstStyle/>
                    <a:p>
                      <a:pPr algn="ctr"/>
                      <a:r>
                        <a:rPr sz="1300">
                          <a:solidFill>
                            <a:srgbClr val="0B0B0B"/>
                          </a:solidFill>
                        </a:rPr>
                        <a:t>分割</a:t>
                      </a:r>
                    </a:p>
                  </a:txBody>
                  <a:tcPr marL="54864" marR="54864" marT="18288" marB="18288" anchor="ctr">
                    <a:solidFill>
                      <a:srgbClr val="FFFFFF"/>
                    </a:solidFill>
                  </a:tcPr>
                </a:tc>
                <a:tc>
                  <a:txBody>
                    <a:bodyPr/>
                    <a:lstStyle/>
                    <a:p>
                      <a:pPr algn="ctr"/>
                      <a:r>
                        <a:rPr sz="1300">
                          <a:solidFill>
                            <a:srgbClr val="0B0B0B"/>
                          </a:solidFill>
                        </a:rPr>
                        <a:t>各ブロック nx=15, ny=15, nz=150</a:t>
                      </a:r>
                    </a:p>
                  </a:txBody>
                  <a:tcPr marL="54864" marR="54864" marT="18288" marB="18288" anchor="ctr">
                    <a:solidFill>
                      <a:srgbClr val="FFFFFF"/>
                    </a:solidFill>
                  </a:tcPr>
                </a:tc>
              </a:tr>
              <a:tr h="457200">
                <a:tc>
                  <a:txBody>
                    <a:bodyPr/>
                    <a:lstStyle/>
                    <a:p>
                      <a:pPr algn="ctr"/>
                      <a:r>
                        <a:rPr sz="1300">
                          <a:solidFill>
                            <a:srgbClr val="0B0B0B"/>
                          </a:solidFill>
                        </a:rPr>
                        <a:t>総セル数</a:t>
                      </a:r>
                    </a:p>
                  </a:txBody>
                  <a:tcPr marL="54864" marR="54864" marT="18288" marB="18288" anchor="ctr">
                    <a:solidFill>
                      <a:srgbClr val="F2F1EC"/>
                    </a:solidFill>
                  </a:tcPr>
                </a:tc>
                <a:tc>
                  <a:txBody>
                    <a:bodyPr/>
                    <a:lstStyle/>
                    <a:p>
                      <a:pPr algn="ctr"/>
                      <a:r>
                        <a:rPr sz="1300">
                          <a:solidFill>
                            <a:srgbClr val="0B0B0B"/>
                          </a:solidFill>
                        </a:rPr>
                        <a:t>168,750</a:t>
                      </a:r>
                    </a:p>
                  </a:txBody>
                  <a:tcPr marL="54864" marR="54864" marT="18288" marB="18288" anchor="ctr">
                    <a:solidFill>
                      <a:srgbClr val="F2F1EC"/>
                    </a:solidFill>
                  </a:tcPr>
                </a:tc>
              </a:tr>
              <a:tr h="457200">
                <a:tc>
                  <a:txBody>
                    <a:bodyPr/>
                    <a:lstStyle/>
                    <a:p>
                      <a:pPr algn="ctr"/>
                      <a:r>
                        <a:rPr sz="1300">
                          <a:solidFill>
                            <a:srgbClr val="0B0B0B"/>
                          </a:solidFill>
                        </a:rPr>
                        <a:t>軸方向解像度</a:t>
                      </a:r>
                    </a:p>
                  </a:txBody>
                  <a:tcPr marL="54864" marR="54864" marT="18288" marB="18288" anchor="ctr">
                    <a:solidFill>
                      <a:srgbClr val="FFFFFF"/>
                    </a:solidFill>
                  </a:tcPr>
                </a:tc>
                <a:tc>
                  <a:txBody>
                    <a:bodyPr/>
                    <a:lstStyle/>
                    <a:p>
                      <a:pPr algn="ctr"/>
                      <a:r>
                        <a:rPr sz="1300">
                          <a:solidFill>
                            <a:srgbClr val="0B0B0B"/>
                          </a:solidFill>
                        </a:rPr>
                        <a:t>6.67 mm / セル</a:t>
                      </a:r>
                    </a:p>
                  </a:txBody>
                  <a:tcPr marL="54864" marR="54864" marT="18288" marB="18288" anchor="ctr">
                    <a:solidFill>
                      <a:srgbClr val="FFFFFF"/>
                    </a:solidFill>
                  </a:tcPr>
                </a:tc>
              </a:tr>
              <a:tr h="457200">
                <a:tc>
                  <a:txBody>
                    <a:bodyPr/>
                    <a:lstStyle/>
                    <a:p>
                      <a:pPr algn="ctr"/>
                      <a:r>
                        <a:rPr sz="1300">
                          <a:solidFill>
                            <a:srgbClr val="0B0B0B"/>
                          </a:solidFill>
                        </a:rPr>
                        <a:t>充填層領域</a:t>
                      </a:r>
                    </a:p>
                  </a:txBody>
                  <a:tcPr marL="54864" marR="54864" marT="18288" marB="18288" anchor="ctr">
                    <a:solidFill>
                      <a:srgbClr val="F2F1EC"/>
                    </a:solidFill>
                  </a:tcPr>
                </a:tc>
                <a:tc>
                  <a:txBody>
                    <a:bodyPr/>
                    <a:lstStyle/>
                    <a:p>
                      <a:pPr algn="ctr"/>
                      <a:r>
                        <a:rPr sz="1300">
                          <a:solidFill>
                            <a:srgbClr val="0B0B0B"/>
                          </a:solidFill>
                        </a:rPr>
                        <a:t>Z = 0.2〜0.9 m（層長 L = 0.7 m、118,125 セル）</a:t>
                      </a:r>
                    </a:p>
                  </a:txBody>
                  <a:tcPr marL="54864" marR="54864" marT="18288" marB="18288" anchor="ctr">
                    <a:solidFill>
                      <a:srgbClr val="F2F1EC"/>
                    </a:solidFill>
                  </a:tcPr>
                </a:tc>
              </a:tr>
              <a:tr h="457200">
                <a:tc>
                  <a:txBody>
                    <a:bodyPr/>
                    <a:lstStyle/>
                    <a:p>
                      <a:pPr algn="ctr"/>
                      <a:r>
                        <a:rPr sz="1300">
                          <a:solidFill>
                            <a:srgbClr val="0B0B0B"/>
                          </a:solidFill>
                        </a:rPr>
                        <a:t>助走部 / 出口部</a:t>
                      </a:r>
                    </a:p>
                  </a:txBody>
                  <a:tcPr marL="54864" marR="54864" marT="18288" marB="18288" anchor="ctr">
                    <a:solidFill>
                      <a:srgbClr val="FFFFFF"/>
                    </a:solidFill>
                  </a:tcPr>
                </a:tc>
                <a:tc>
                  <a:txBody>
                    <a:bodyPr/>
                    <a:lstStyle/>
                    <a:p>
                      <a:pPr algn="ctr"/>
                      <a:r>
                        <a:rPr sz="1300">
                          <a:solidFill>
                            <a:srgbClr val="0B0B0B"/>
                          </a:solidFill>
                        </a:rPr>
                        <a:t>Z = 0〜0.2 m ／ Z = 0.9〜1.0 m（自由流）</a:t>
                      </a:r>
                    </a:p>
                  </a:txBody>
                  <a:tcPr marL="54864" marR="54864" marT="18288" marB="18288" anchor="ctr">
                    <a:solidFill>
                      <a:srgbClr val="FFFFFF"/>
                    </a:solidFill>
                  </a:tcPr>
                </a:tc>
              </a:tr>
              <a:tr h="457200">
                <a:tc>
                  <a:txBody>
                    <a:bodyPr/>
                    <a:lstStyle/>
                    <a:p>
                      <a:pPr algn="ctr"/>
                      <a:r>
                        <a:rPr sz="1300">
                          <a:solidFill>
                            <a:srgbClr val="0B0B0B"/>
                          </a:solidFill>
                        </a:rPr>
                        <a:t>境界</a:t>
                      </a:r>
                    </a:p>
                  </a:txBody>
                  <a:tcPr marL="54864" marR="54864" marT="18288" marB="18288" anchor="ctr">
                    <a:solidFill>
                      <a:srgbClr val="F2F1EC"/>
                    </a:solidFill>
                  </a:tcPr>
                </a:tc>
                <a:tc>
                  <a:txBody>
                    <a:bodyPr/>
                    <a:lstStyle/>
                    <a:p>
                      <a:pPr algn="ctr"/>
                      <a:r>
                        <a:rPr sz="1300">
                          <a:solidFill>
                            <a:srgbClr val="0B0B0B"/>
                          </a:solidFill>
                        </a:rPr>
                        <a:t>INLET（下端）／ OUTLET（上端）／ WALL（側面）</a:t>
                      </a:r>
                    </a:p>
                  </a:txBody>
                  <a:tcPr marL="54864" marR="54864" marT="18288" marB="18288" anchor="ctr">
                    <a:solidFill>
                      <a:srgbClr val="F2F1EC"/>
                    </a:solidFill>
                  </a:tcPr>
                </a:tc>
              </a:tr>
            </a:tbl>
          </a:graphicData>
        </a:graphic>
      </p:graphicFrame>
      <p:sp>
        <p:nvSpPr>
          <p:cNvPr id="6" name="TextBox 5"/>
          <p:cNvSpPr txBox="1"/>
          <p:nvPr/>
        </p:nvSpPr>
        <p:spPr>
          <a:xfrm>
            <a:off x="548640" y="5852160"/>
            <a:ext cx="11064240" cy="548640"/>
          </a:xfrm>
          <a:prstGeom prst="rect">
            <a:avLst/>
          </a:prstGeom>
          <a:noFill/>
        </p:spPr>
        <p:txBody>
          <a:bodyPr wrap="none">
            <a:spAutoFit/>
          </a:bodyPr>
          <a:lstStyle/>
          <a:p>
            <a:r>
              <a:rPr sz="1300">
                <a:solidFill>
                  <a:srgbClr val="52514E"/>
                </a:solidFill>
              </a:rPr>
              <a:t>メッシュは全ケースで共有（standard/constant/polyMesh へのシンボリックリンク）。充填層は topoSetDict の boxToCell により cellZone「porosity1」として切り出す。</a:t>
            </a:r>
          </a:p>
        </p:txBody>
      </p:sp>
      <p:sp>
        <p:nvSpPr>
          <p:cNvPr id="7" name="TextBox 6"/>
          <p:cNvSpPr txBox="1"/>
          <p:nvPr/>
        </p:nvSpPr>
        <p:spPr>
          <a:xfrm>
            <a:off x="11521440" y="6492240"/>
            <a:ext cx="548640" cy="274320"/>
          </a:xfrm>
          <a:prstGeom prst="rect">
            <a:avLst/>
          </a:prstGeom>
          <a:noFill/>
        </p:spPr>
        <p:txBody>
          <a:bodyPr wrap="none">
            <a:spAutoFit/>
          </a:bodyPr>
          <a:lstStyle/>
          <a:p>
            <a:r>
              <a:rPr sz="1000">
                <a:solidFill>
                  <a:srgbClr val="52514E"/>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METHOD</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2.3 充填層のモデル化</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64240" cy="457200"/>
          </a:xfrm>
          <a:prstGeom prst="rect">
            <a:avLst/>
          </a:prstGeom>
          <a:noFill/>
        </p:spPr>
        <p:txBody>
          <a:bodyPr wrap="none">
            <a:spAutoFit/>
          </a:bodyPr>
          <a:lstStyle/>
          <a:p>
            <a:r>
              <a:rPr sz="1500">
                <a:solidFill>
                  <a:srgbClr val="0B0B0B"/>
                </a:solidFill>
              </a:rPr>
              <a:t>充填層は形状を解像せず、Ergun 式に基づく Darcy-Forchheimer 抵抗として運動量ソース項で表現する。</a:t>
            </a:r>
          </a:p>
        </p:txBody>
      </p:sp>
      <p:sp>
        <p:nvSpPr>
          <p:cNvPr id="6" name="Rounded Rectangle 5"/>
          <p:cNvSpPr/>
          <p:nvPr/>
        </p:nvSpPr>
        <p:spPr>
          <a:xfrm>
            <a:off x="548640" y="2331720"/>
            <a:ext cx="11064240" cy="1005840"/>
          </a:xfrm>
          <a:prstGeom prst="roundRect">
            <a:avLst/>
          </a:prstGeom>
          <a:solidFill>
            <a:srgbClr val="F2F1EC"/>
          </a:solidFill>
          <a:ln w="1270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a:solidFill>
                  <a:srgbClr val="0B0B0B"/>
                </a:solidFill>
              </a:rPr>
              <a:t>Ergun 式：dP/dz = 150·μ·(1−ε)² / (ε³·dp²)·u  +  1.75·ρ·(1−ε) / (ε³·dp)·u²</a:t>
            </a:r>
          </a:p>
          <a:p>
            <a:pPr algn="ctr">
              <a:spcBef>
                <a:spcPts val="800"/>
              </a:spcBef>
            </a:pPr>
            <a:r>
              <a:rPr sz="1500">
                <a:solidFill>
                  <a:srgbClr val="0B0B0B"/>
                </a:solidFill>
              </a:rPr>
              <a:t>OpenFOAM の Darcy-Forchheimer ソース項：S = − ( μ·d + (ρ/2)·f·|U| ) · U</a:t>
            </a:r>
          </a:p>
        </p:txBody>
      </p:sp>
      <p:sp>
        <p:nvSpPr>
          <p:cNvPr id="7" name="TextBox 6"/>
          <p:cNvSpPr txBox="1"/>
          <p:nvPr/>
        </p:nvSpPr>
        <p:spPr>
          <a:xfrm>
            <a:off x="548640" y="3520440"/>
            <a:ext cx="11064240" cy="640080"/>
          </a:xfrm>
          <a:prstGeom prst="rect">
            <a:avLst/>
          </a:prstGeom>
          <a:noFill/>
        </p:spPr>
        <p:txBody>
          <a:bodyPr wrap="square">
            <a:spAutoFit/>
          </a:bodyPr>
          <a:lstStyle/>
          <a:p>
            <a:r>
              <a:rPr sz="1300">
                <a:solidFill>
                  <a:srgbClr val="52514E"/>
                </a:solidFill>
              </a:rPr>
              <a:t>両者を対応させ、さらに各相が細孔空間の一部しか占めないことを実験ボイド率 a で補正すると、相ごとの係数は次式となる（Darcy 項は 1/s²、Forchheimer 項は 1/s でスケール。相対浸透率モデルと同じ考え方）。</a:t>
            </a:r>
          </a:p>
        </p:txBody>
      </p:sp>
      <p:graphicFrame>
        <p:nvGraphicFramePr>
          <p:cNvPr id="8" name="Table 7"/>
          <p:cNvGraphicFramePr>
            <a:graphicFrameLocks noGrp="1"/>
          </p:cNvGraphicFramePr>
          <p:nvPr/>
        </p:nvGraphicFramePr>
        <p:xfrm>
          <a:off x="548640" y="4251960"/>
          <a:ext cx="11064240" cy="1371600"/>
        </p:xfrm>
        <a:graphic>
          <a:graphicData uri="http://schemas.openxmlformats.org/drawingml/2006/table">
            <a:tbl>
              <a:tblPr firstRow="1" bandRow="1">
                <a:tableStyleId>{5C22544A-7EE6-4342-B048-85BDC9FD1C3A}</a:tableStyleId>
              </a:tblPr>
              <a:tblGrid>
                <a:gridCol w="2926080"/>
                <a:gridCol w="4023360"/>
                <a:gridCol w="4114800"/>
              </a:tblGrid>
              <a:tr h="457200">
                <a:tc>
                  <a:txBody>
                    <a:bodyPr/>
                    <a:lstStyle/>
                    <a:p>
                      <a:pPr algn="ctr"/>
                    </a:p>
                  </a:txBody>
                  <a:tcPr marL="54864" marR="54864" marT="18288" marB="18288" anchor="ctr">
                    <a:solidFill>
                      <a:srgbClr val="2A78D6"/>
                    </a:solidFill>
                  </a:tcPr>
                </a:tc>
                <a:tc>
                  <a:txBody>
                    <a:bodyPr/>
                    <a:lstStyle/>
                    <a:p>
                      <a:pPr algn="ctr"/>
                      <a:r>
                        <a:rPr sz="1300" b="1">
                          <a:solidFill>
                            <a:srgbClr val="FFFFFF"/>
                          </a:solidFill>
                        </a:rPr>
                        <a:t>気相（air）</a:t>
                      </a:r>
                    </a:p>
                  </a:txBody>
                  <a:tcPr marL="54864" marR="54864" marT="18288" marB="18288" anchor="ctr">
                    <a:solidFill>
                      <a:srgbClr val="2A78D6"/>
                    </a:solidFill>
                  </a:tcPr>
                </a:tc>
                <a:tc>
                  <a:txBody>
                    <a:bodyPr/>
                    <a:lstStyle/>
                    <a:p>
                      <a:pPr algn="ctr"/>
                      <a:r>
                        <a:rPr sz="1300" b="1">
                          <a:solidFill>
                            <a:srgbClr val="FFFFFF"/>
                          </a:solidFill>
                        </a:rPr>
                        <a:t>液相（water）</a:t>
                      </a:r>
                    </a:p>
                  </a:txBody>
                  <a:tcPr marL="54864" marR="54864" marT="18288" marB="18288" anchor="ctr">
                    <a:solidFill>
                      <a:srgbClr val="2A78D6"/>
                    </a:solidFill>
                  </a:tcPr>
                </a:tc>
              </a:tr>
              <a:tr h="457200">
                <a:tc>
                  <a:txBody>
                    <a:bodyPr/>
                    <a:lstStyle/>
                    <a:p>
                      <a:pPr algn="ctr"/>
                      <a:r>
                        <a:rPr sz="1300">
                          <a:solidFill>
                            <a:srgbClr val="0B0B0B"/>
                          </a:solidFill>
                        </a:rPr>
                        <a:t>Darcy 係数 d</a:t>
                      </a:r>
                    </a:p>
                  </a:txBody>
                  <a:tcPr marL="54864" marR="54864" marT="18288" marB="18288" anchor="ctr">
                    <a:solidFill>
                      <a:srgbClr val="FFFFFF"/>
                    </a:solidFill>
                  </a:tcPr>
                </a:tc>
                <a:tc>
                  <a:txBody>
                    <a:bodyPr/>
                    <a:lstStyle/>
                    <a:p>
                      <a:pPr algn="ctr"/>
                      <a:r>
                        <a:rPr sz="1300">
                          <a:solidFill>
                            <a:srgbClr val="0B0B0B"/>
                          </a:solidFill>
                        </a:rPr>
                        <a:t>150(1−ε)² / (a²·ε³·dp²)</a:t>
                      </a:r>
                    </a:p>
                  </a:txBody>
                  <a:tcPr marL="54864" marR="54864" marT="18288" marB="18288" anchor="ctr">
                    <a:solidFill>
                      <a:srgbClr val="FFFFFF"/>
                    </a:solidFill>
                  </a:tcPr>
                </a:tc>
                <a:tc>
                  <a:txBody>
                    <a:bodyPr/>
                    <a:lstStyle/>
                    <a:p>
                      <a:pPr algn="ctr"/>
                      <a:r>
                        <a:rPr sz="1300">
                          <a:solidFill>
                            <a:srgbClr val="0B0B0B"/>
                          </a:solidFill>
                        </a:rPr>
                        <a:t>150(1−ε)² / ((1−a)²·ε³·dp²)</a:t>
                      </a:r>
                    </a:p>
                  </a:txBody>
                  <a:tcPr marL="54864" marR="54864" marT="18288" marB="18288" anchor="ctr">
                    <a:solidFill>
                      <a:srgbClr val="FFFFFF"/>
                    </a:solidFill>
                  </a:tcPr>
                </a:tc>
              </a:tr>
              <a:tr h="457200">
                <a:tc>
                  <a:txBody>
                    <a:bodyPr/>
                    <a:lstStyle/>
                    <a:p>
                      <a:pPr algn="ctr"/>
                      <a:r>
                        <a:rPr sz="1300">
                          <a:solidFill>
                            <a:srgbClr val="0B0B0B"/>
                          </a:solidFill>
                        </a:rPr>
                        <a:t>Forchheimer 係数 f</a:t>
                      </a:r>
                    </a:p>
                  </a:txBody>
                  <a:tcPr marL="54864" marR="54864" marT="18288" marB="18288" anchor="ctr">
                    <a:solidFill>
                      <a:srgbClr val="F2F1EC"/>
                    </a:solidFill>
                  </a:tcPr>
                </a:tc>
                <a:tc>
                  <a:txBody>
                    <a:bodyPr/>
                    <a:lstStyle/>
                    <a:p>
                      <a:pPr algn="ctr"/>
                      <a:r>
                        <a:rPr sz="1300">
                          <a:solidFill>
                            <a:srgbClr val="0B0B0B"/>
                          </a:solidFill>
                        </a:rPr>
                        <a:t>3.5(1−ε) / (a·ε³·dp)</a:t>
                      </a:r>
                    </a:p>
                  </a:txBody>
                  <a:tcPr marL="54864" marR="54864" marT="18288" marB="18288" anchor="ctr">
                    <a:solidFill>
                      <a:srgbClr val="F2F1EC"/>
                    </a:solidFill>
                  </a:tcPr>
                </a:tc>
                <a:tc>
                  <a:txBody>
                    <a:bodyPr/>
                    <a:lstStyle/>
                    <a:p>
                      <a:pPr algn="ctr"/>
                      <a:r>
                        <a:rPr sz="1300">
                          <a:solidFill>
                            <a:srgbClr val="0B0B0B"/>
                          </a:solidFill>
                        </a:rPr>
                        <a:t>3.5(1−ε) / ((1−a)·ε³·dp)</a:t>
                      </a:r>
                    </a:p>
                  </a:txBody>
                  <a:tcPr marL="54864" marR="54864" marT="18288" marB="18288" anchor="ctr">
                    <a:solidFill>
                      <a:srgbClr val="F2F1EC"/>
                    </a:solidFill>
                  </a:tcPr>
                </a:tc>
              </a:tr>
            </a:tbl>
          </a:graphicData>
        </a:graphic>
      </p:graphicFrame>
      <p:sp>
        <p:nvSpPr>
          <p:cNvPr id="9" name="TextBox 8"/>
          <p:cNvSpPr txBox="1"/>
          <p:nvPr/>
        </p:nvSpPr>
        <p:spPr>
          <a:xfrm>
            <a:off x="548640" y="5760720"/>
            <a:ext cx="11064240" cy="640080"/>
          </a:xfrm>
          <a:prstGeom prst="rect">
            <a:avLst/>
          </a:prstGeom>
          <a:noFill/>
        </p:spPr>
        <p:txBody>
          <a:bodyPr wrap="square">
            <a:spAutoFit/>
          </a:bodyPr>
          <a:lstStyle/>
          <a:p>
            <a:r>
              <a:rPr sz="1300">
                <a:solidFill>
                  <a:srgbClr val="52514E"/>
                </a:solidFill>
              </a:rPr>
              <a:t>固定パラメータ：ε = 0.3731（空隙率）、dp = 0.005 m（粒子径）。D/dp = 10 であり、壁面効果は無視できない領域にある。</a:t>
            </a:r>
          </a:p>
        </p:txBody>
      </p:sp>
      <p:sp>
        <p:nvSpPr>
          <p:cNvPr id="10" name="TextBox 9"/>
          <p:cNvSpPr txBox="1"/>
          <p:nvPr/>
        </p:nvSpPr>
        <p:spPr>
          <a:xfrm>
            <a:off x="11521440" y="6492240"/>
            <a:ext cx="548640" cy="274320"/>
          </a:xfrm>
          <a:prstGeom prst="rect">
            <a:avLst/>
          </a:prstGeom>
          <a:noFill/>
        </p:spPr>
        <p:txBody>
          <a:bodyPr wrap="none">
            <a:spAutoFit/>
          </a:bodyPr>
          <a:lstStyle/>
          <a:p>
            <a:r>
              <a:rPr sz="1000">
                <a:solidFill>
                  <a:srgbClr val="52514E"/>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METHOD</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2.4-2.5 相間相互作用モデル・物性値</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783080"/>
          <a:ext cx="8686800" cy="3218688"/>
        </p:xfrm>
        <a:graphic>
          <a:graphicData uri="http://schemas.openxmlformats.org/drawingml/2006/table">
            <a:tbl>
              <a:tblPr firstRow="1" bandRow="1">
                <a:tableStyleId>{5C22544A-7EE6-4342-B048-85BDC9FD1C3A}</a:tableStyleId>
              </a:tblPr>
              <a:tblGrid>
                <a:gridCol w="2377440"/>
                <a:gridCol w="6309360"/>
              </a:tblGrid>
              <a:tr h="402336">
                <a:tc>
                  <a:txBody>
                    <a:bodyPr/>
                    <a:lstStyle/>
                    <a:p>
                      <a:pPr algn="ctr"/>
                      <a:r>
                        <a:rPr sz="1200" b="1">
                          <a:solidFill>
                            <a:srgbClr val="FFFFFF"/>
                          </a:solidFill>
                        </a:rPr>
                        <a:t>項目</a:t>
                      </a:r>
                    </a:p>
                  </a:txBody>
                  <a:tcPr marL="54864" marR="54864" marT="18288" marB="18288" anchor="ctr">
                    <a:solidFill>
                      <a:srgbClr val="2A78D6"/>
                    </a:solidFill>
                  </a:tcPr>
                </a:tc>
                <a:tc>
                  <a:txBody>
                    <a:bodyPr/>
                    <a:lstStyle/>
                    <a:p>
                      <a:pPr algn="ctr"/>
                      <a:r>
                        <a:rPr sz="1200" b="1">
                          <a:solidFill>
                            <a:srgbClr val="FFFFFF"/>
                          </a:solidFill>
                        </a:rPr>
                        <a:t>設定</a:t>
                      </a:r>
                    </a:p>
                  </a:txBody>
                  <a:tcPr marL="54864" marR="54864" marT="18288" marB="18288" anchor="ctr">
                    <a:solidFill>
                      <a:srgbClr val="2A78D6"/>
                    </a:solidFill>
                  </a:tcPr>
                </a:tc>
              </a:tr>
              <a:tr h="402336">
                <a:tc>
                  <a:txBody>
                    <a:bodyPr/>
                    <a:lstStyle/>
                    <a:p>
                      <a:pPr algn="ctr"/>
                      <a:r>
                        <a:rPr sz="1200">
                          <a:solidFill>
                            <a:srgbClr val="0B0B0B"/>
                          </a:solidFill>
                        </a:rPr>
                        <a:t>気泡径</a:t>
                      </a:r>
                    </a:p>
                  </a:txBody>
                  <a:tcPr marL="54864" marR="54864" marT="18288" marB="18288" anchor="ctr">
                    <a:solidFill>
                      <a:srgbClr val="FFFFFF"/>
                    </a:solidFill>
                  </a:tcPr>
                </a:tc>
                <a:tc>
                  <a:txBody>
                    <a:bodyPr/>
                    <a:lstStyle/>
                    <a:p>
                      <a:pPr algn="ctr"/>
                      <a:r>
                        <a:rPr sz="1200">
                          <a:solidFill>
                            <a:srgbClr val="0B0B0B"/>
                          </a:solidFill>
                        </a:rPr>
                        <a:t>isothermal：d = d0·(p0/p)^(1/3)、d0=3mm, p0=1bar</a:t>
                      </a:r>
                    </a:p>
                  </a:txBody>
                  <a:tcPr marL="54864" marR="54864" marT="18288" marB="18288" anchor="ctr">
                    <a:solidFill>
                      <a:srgbClr val="FFFFFF"/>
                    </a:solidFill>
                  </a:tcPr>
                </a:tc>
              </a:tr>
              <a:tr h="402336">
                <a:tc>
                  <a:txBody>
                    <a:bodyPr/>
                    <a:lstStyle/>
                    <a:p>
                      <a:pPr algn="ctr"/>
                      <a:r>
                        <a:rPr sz="1200">
                          <a:solidFill>
                            <a:srgbClr val="0B0B0B"/>
                          </a:solidFill>
                        </a:rPr>
                        <a:t>液滴径</a:t>
                      </a:r>
                    </a:p>
                  </a:txBody>
                  <a:tcPr marL="54864" marR="54864" marT="18288" marB="18288" anchor="ctr">
                    <a:solidFill>
                      <a:srgbClr val="F2F1EC"/>
                    </a:solidFill>
                  </a:tcPr>
                </a:tc>
                <a:tc>
                  <a:txBody>
                    <a:bodyPr/>
                    <a:lstStyle/>
                    <a:p>
                      <a:pPr algn="ctr"/>
                      <a:r>
                        <a:rPr sz="1200">
                          <a:solidFill>
                            <a:srgbClr val="0B0B0B"/>
                          </a:solidFill>
                        </a:rPr>
                        <a:t>constant：0.1 mm</a:t>
                      </a:r>
                    </a:p>
                  </a:txBody>
                  <a:tcPr marL="54864" marR="54864" marT="18288" marB="18288" anchor="ctr">
                    <a:solidFill>
                      <a:srgbClr val="F2F1EC"/>
                    </a:solidFill>
                  </a:tcPr>
                </a:tc>
              </a:tr>
              <a:tr h="402336">
                <a:tc>
                  <a:txBody>
                    <a:bodyPr/>
                    <a:lstStyle/>
                    <a:p>
                      <a:pPr algn="ctr"/>
                      <a:r>
                        <a:rPr sz="1200">
                          <a:solidFill>
                            <a:srgbClr val="0B0B0B"/>
                          </a:solidFill>
                        </a:rPr>
                        <a:t>抗力</a:t>
                      </a:r>
                    </a:p>
                  </a:txBody>
                  <a:tcPr marL="54864" marR="54864" marT="18288" marB="18288" anchor="ctr">
                    <a:solidFill>
                      <a:srgbClr val="FFFFFF"/>
                    </a:solidFill>
                  </a:tcPr>
                </a:tc>
                <a:tc>
                  <a:txBody>
                    <a:bodyPr/>
                    <a:lstStyle/>
                    <a:p>
                      <a:pPr algn="ctr"/>
                      <a:r>
                        <a:rPr sz="1200">
                          <a:solidFill>
                            <a:srgbClr val="0B0B0B"/>
                          </a:solidFill>
                        </a:rPr>
                        <a:t>SchillerNaumann（両方向）／ 中間域は segregated</a:t>
                      </a:r>
                    </a:p>
                  </a:txBody>
                  <a:tcPr marL="54864" marR="54864" marT="18288" marB="18288" anchor="ctr">
                    <a:solidFill>
                      <a:srgbClr val="FFFFFF"/>
                    </a:solidFill>
                  </a:tcPr>
                </a:tc>
              </a:tr>
              <a:tr h="402336">
                <a:tc>
                  <a:txBody>
                    <a:bodyPr/>
                    <a:lstStyle/>
                    <a:p>
                      <a:pPr algn="ctr"/>
                      <a:r>
                        <a:rPr sz="1200">
                          <a:solidFill>
                            <a:srgbClr val="0B0B0B"/>
                          </a:solidFill>
                        </a:rPr>
                        <a:t>ブレンディング</a:t>
                      </a:r>
                    </a:p>
                  </a:txBody>
                  <a:tcPr marL="54864" marR="54864" marT="18288" marB="18288" anchor="ctr">
                    <a:solidFill>
                      <a:srgbClr val="F2F1EC"/>
                    </a:solidFill>
                  </a:tcPr>
                </a:tc>
                <a:tc>
                  <a:txBody>
                    <a:bodyPr/>
                    <a:lstStyle/>
                    <a:p>
                      <a:pPr algn="ctr"/>
                      <a:r>
                        <a:rPr sz="1200">
                          <a:solidFill>
                            <a:srgbClr val="0B0B0B"/>
                          </a:solidFill>
                        </a:rPr>
                        <a:t>linear：完全分散 α&lt;0.3、部分分散 α&lt;0.5</a:t>
                      </a:r>
                    </a:p>
                  </a:txBody>
                  <a:tcPr marL="54864" marR="54864" marT="18288" marB="18288" anchor="ctr">
                    <a:solidFill>
                      <a:srgbClr val="F2F1EC"/>
                    </a:solidFill>
                  </a:tcPr>
                </a:tc>
              </a:tr>
              <a:tr h="402336">
                <a:tc>
                  <a:txBody>
                    <a:bodyPr/>
                    <a:lstStyle/>
                    <a:p>
                      <a:pPr algn="ctr"/>
                      <a:r>
                        <a:rPr sz="1200">
                          <a:solidFill>
                            <a:srgbClr val="0B0B0B"/>
                          </a:solidFill>
                        </a:rPr>
                        <a:t>仮想質量／熱伝達</a:t>
                      </a:r>
                    </a:p>
                  </a:txBody>
                  <a:tcPr marL="54864" marR="54864" marT="18288" marB="18288" anchor="ctr">
                    <a:solidFill>
                      <a:srgbClr val="FFFFFF"/>
                    </a:solidFill>
                  </a:tcPr>
                </a:tc>
                <a:tc>
                  <a:txBody>
                    <a:bodyPr/>
                    <a:lstStyle/>
                    <a:p>
                      <a:pPr algn="ctr"/>
                      <a:r>
                        <a:rPr sz="1200">
                          <a:solidFill>
                            <a:srgbClr val="0B0B0B"/>
                          </a:solidFill>
                        </a:rPr>
                        <a:t>constantCoefficient (Cvm=0.5) ／ RanzMarshall</a:t>
                      </a:r>
                    </a:p>
                  </a:txBody>
                  <a:tcPr marL="54864" marR="54864" marT="18288" marB="18288" anchor="ctr">
                    <a:solidFill>
                      <a:srgbClr val="FFFFFF"/>
                    </a:solidFill>
                  </a:tcPr>
                </a:tc>
              </a:tr>
              <a:tr h="402336">
                <a:tc>
                  <a:txBody>
                    <a:bodyPr/>
                    <a:lstStyle/>
                    <a:p>
                      <a:pPr algn="ctr"/>
                      <a:r>
                        <a:rPr sz="1200">
                          <a:solidFill>
                            <a:srgbClr val="0B0B0B"/>
                          </a:solidFill>
                        </a:rPr>
                        <a:t>表面張力</a:t>
                      </a:r>
                    </a:p>
                  </a:txBody>
                  <a:tcPr marL="54864" marR="54864" marT="18288" marB="18288" anchor="ctr">
                    <a:solidFill>
                      <a:srgbClr val="F2F1EC"/>
                    </a:solidFill>
                  </a:tcPr>
                </a:tc>
                <a:tc>
                  <a:txBody>
                    <a:bodyPr/>
                    <a:lstStyle/>
                    <a:p>
                      <a:pPr algn="ctr"/>
                      <a:r>
                        <a:rPr sz="1200">
                          <a:solidFill>
                            <a:srgbClr val="0B0B0B"/>
                          </a:solidFill>
                        </a:rPr>
                        <a:t>0.07 N/m</a:t>
                      </a:r>
                    </a:p>
                  </a:txBody>
                  <a:tcPr marL="54864" marR="54864" marT="18288" marB="18288" anchor="ctr">
                    <a:solidFill>
                      <a:srgbClr val="F2F1EC"/>
                    </a:solidFill>
                  </a:tcPr>
                </a:tc>
              </a:tr>
              <a:tr h="402336">
                <a:tc>
                  <a:txBody>
                    <a:bodyPr/>
                    <a:lstStyle/>
                    <a:p>
                      <a:pPr algn="ctr"/>
                      <a:r>
                        <a:rPr sz="1200">
                          <a:solidFill>
                            <a:srgbClr val="0B0B0B"/>
                          </a:solidFill>
                        </a:rPr>
                        <a:t>揚力・壁潤滑・乱流分散</a:t>
                      </a:r>
                    </a:p>
                  </a:txBody>
                  <a:tcPr marL="54864" marR="54864" marT="18288" marB="18288" anchor="ctr">
                    <a:solidFill>
                      <a:srgbClr val="FFFFFF"/>
                    </a:solidFill>
                  </a:tcPr>
                </a:tc>
                <a:tc>
                  <a:txBody>
                    <a:bodyPr/>
                    <a:lstStyle/>
                    <a:p>
                      <a:pPr algn="ctr"/>
                      <a:r>
                        <a:rPr sz="1200">
                          <a:solidFill>
                            <a:srgbClr val="0B0B0B"/>
                          </a:solidFill>
                        </a:rPr>
                        <a:t>すべて無効</a:t>
                      </a:r>
                    </a:p>
                  </a:txBody>
                  <a:tcPr marL="54864" marR="54864" marT="18288" marB="18288" anchor="ctr">
                    <a:solidFill>
                      <a:srgbClr val="FFFFFF"/>
                    </a:solidFill>
                  </a:tcPr>
                </a:tc>
              </a:tr>
            </a:tbl>
          </a:graphicData>
        </a:graphic>
      </p:graphicFrame>
      <p:graphicFrame>
        <p:nvGraphicFramePr>
          <p:cNvPr id="6" name="Table 5"/>
          <p:cNvGraphicFramePr>
            <a:graphicFrameLocks noGrp="1"/>
          </p:cNvGraphicFramePr>
          <p:nvPr/>
        </p:nvGraphicFramePr>
        <p:xfrm>
          <a:off x="8869680" y="1783080"/>
          <a:ext cx="4389120" cy="1828800"/>
        </p:xfrm>
        <a:graphic>
          <a:graphicData uri="http://schemas.openxmlformats.org/drawingml/2006/table">
            <a:tbl>
              <a:tblPr firstRow="1" bandRow="1">
                <a:tableStyleId>{5C22544A-7EE6-4342-B048-85BDC9FD1C3A}</a:tableStyleId>
              </a:tblPr>
              <a:tblGrid>
                <a:gridCol w="1463040"/>
                <a:gridCol w="1463040"/>
                <a:gridCol w="1463040"/>
              </a:tblGrid>
              <a:tr h="457200">
                <a:tc>
                  <a:txBody>
                    <a:bodyPr/>
                    <a:lstStyle/>
                    <a:p>
                      <a:pPr algn="ctr"/>
                    </a:p>
                  </a:txBody>
                  <a:tcPr marL="54864" marR="54864" marT="18288" marB="18288" anchor="ctr">
                    <a:solidFill>
                      <a:srgbClr val="2A78D6"/>
                    </a:solidFill>
                  </a:tcPr>
                </a:tc>
                <a:tc>
                  <a:txBody>
                    <a:bodyPr/>
                    <a:lstStyle/>
                    <a:p>
                      <a:pPr algn="ctr"/>
                      <a:r>
                        <a:rPr sz="1100" b="1">
                          <a:solidFill>
                            <a:srgbClr val="FFFFFF"/>
                          </a:solidFill>
                        </a:rPr>
                        <a:t>空気（air）</a:t>
                      </a:r>
                    </a:p>
                  </a:txBody>
                  <a:tcPr marL="54864" marR="54864" marT="18288" marB="18288" anchor="ctr">
                    <a:solidFill>
                      <a:srgbClr val="2A78D6"/>
                    </a:solidFill>
                  </a:tcPr>
                </a:tc>
                <a:tc>
                  <a:txBody>
                    <a:bodyPr/>
                    <a:lstStyle/>
                    <a:p>
                      <a:pPr algn="ctr"/>
                      <a:r>
                        <a:rPr sz="1100" b="1">
                          <a:solidFill>
                            <a:srgbClr val="FFFFFF"/>
                          </a:solidFill>
                        </a:rPr>
                        <a:t>水（water）</a:t>
                      </a:r>
                    </a:p>
                  </a:txBody>
                  <a:tcPr marL="54864" marR="54864" marT="18288" marB="18288" anchor="ctr">
                    <a:solidFill>
                      <a:srgbClr val="2A78D6"/>
                    </a:solidFill>
                  </a:tcPr>
                </a:tc>
              </a:tr>
              <a:tr h="457200">
                <a:tc>
                  <a:txBody>
                    <a:bodyPr/>
                    <a:lstStyle/>
                    <a:p>
                      <a:pPr algn="ctr"/>
                      <a:r>
                        <a:rPr sz="1100">
                          <a:solidFill>
                            <a:srgbClr val="0B0B0B"/>
                          </a:solidFill>
                        </a:rPr>
                        <a:t>状態方程式</a:t>
                      </a:r>
                    </a:p>
                  </a:txBody>
                  <a:tcPr marL="54864" marR="54864" marT="18288" marB="18288" anchor="ctr">
                    <a:solidFill>
                      <a:srgbClr val="FFFFFF"/>
                    </a:solidFill>
                  </a:tcPr>
                </a:tc>
                <a:tc>
                  <a:txBody>
                    <a:bodyPr/>
                    <a:lstStyle/>
                    <a:p>
                      <a:pPr algn="ctr"/>
                      <a:r>
                        <a:rPr sz="1100">
                          <a:solidFill>
                            <a:srgbClr val="0B0B0B"/>
                          </a:solidFill>
                        </a:rPr>
                        <a:t>perfectGas</a:t>
                      </a:r>
                    </a:p>
                  </a:txBody>
                  <a:tcPr marL="54864" marR="54864" marT="18288" marB="18288" anchor="ctr">
                    <a:solidFill>
                      <a:srgbClr val="FFFFFF"/>
                    </a:solidFill>
                  </a:tcPr>
                </a:tc>
                <a:tc>
                  <a:txBody>
                    <a:bodyPr/>
                    <a:lstStyle/>
                    <a:p>
                      <a:pPr algn="ctr"/>
                      <a:r>
                        <a:rPr sz="1100">
                          <a:solidFill>
                            <a:srgbClr val="0B0B0B"/>
                          </a:solidFill>
                        </a:rPr>
                        <a:t>perfectFluid（ρ≒996.9）</a:t>
                      </a:r>
                    </a:p>
                  </a:txBody>
                  <a:tcPr marL="54864" marR="54864" marT="18288" marB="18288" anchor="ctr">
                    <a:solidFill>
                      <a:srgbClr val="FFFFFF"/>
                    </a:solidFill>
                  </a:tcPr>
                </a:tc>
              </a:tr>
              <a:tr h="457200">
                <a:tc>
                  <a:txBody>
                    <a:bodyPr/>
                    <a:lstStyle/>
                    <a:p>
                      <a:pPr algn="ctr"/>
                      <a:r>
                        <a:rPr sz="1100">
                          <a:solidFill>
                            <a:srgbClr val="0B0B0B"/>
                          </a:solidFill>
                        </a:rPr>
                        <a:t>粘度 μ [Pa·s]</a:t>
                      </a:r>
                    </a:p>
                  </a:txBody>
                  <a:tcPr marL="54864" marR="54864" marT="18288" marB="18288" anchor="ctr">
                    <a:solidFill>
                      <a:srgbClr val="F2F1EC"/>
                    </a:solidFill>
                  </a:tcPr>
                </a:tc>
                <a:tc>
                  <a:txBody>
                    <a:bodyPr/>
                    <a:lstStyle/>
                    <a:p>
                      <a:pPr algn="ctr"/>
                      <a:r>
                        <a:rPr sz="1100">
                          <a:solidFill>
                            <a:srgbClr val="0B0B0B"/>
                          </a:solidFill>
                        </a:rPr>
                        <a:t>1.84×10⁻⁵</a:t>
                      </a:r>
                    </a:p>
                  </a:txBody>
                  <a:tcPr marL="54864" marR="54864" marT="18288" marB="18288" anchor="ctr">
                    <a:solidFill>
                      <a:srgbClr val="F2F1EC"/>
                    </a:solidFill>
                  </a:tcPr>
                </a:tc>
                <a:tc>
                  <a:txBody>
                    <a:bodyPr/>
                    <a:lstStyle/>
                    <a:p>
                      <a:pPr algn="ctr"/>
                      <a:r>
                        <a:rPr sz="1100">
                          <a:solidFill>
                            <a:srgbClr val="0B0B0B"/>
                          </a:solidFill>
                        </a:rPr>
                        <a:t>8.9×10⁻⁴</a:t>
                      </a:r>
                    </a:p>
                  </a:txBody>
                  <a:tcPr marL="54864" marR="54864" marT="18288" marB="18288" anchor="ctr">
                    <a:solidFill>
                      <a:srgbClr val="F2F1EC"/>
                    </a:solidFill>
                  </a:tcPr>
                </a:tc>
              </a:tr>
              <a:tr h="457200">
                <a:tc>
                  <a:txBody>
                    <a:bodyPr/>
                    <a:lstStyle/>
                    <a:p>
                      <a:pPr algn="ctr"/>
                      <a:r>
                        <a:rPr sz="1100">
                          <a:solidFill>
                            <a:srgbClr val="0B0B0B"/>
                          </a:solidFill>
                        </a:rPr>
                        <a:t>Pr</a:t>
                      </a:r>
                    </a:p>
                  </a:txBody>
                  <a:tcPr marL="54864" marR="54864" marT="18288" marB="18288" anchor="ctr">
                    <a:solidFill>
                      <a:srgbClr val="FFFFFF"/>
                    </a:solidFill>
                  </a:tcPr>
                </a:tc>
                <a:tc>
                  <a:txBody>
                    <a:bodyPr/>
                    <a:lstStyle/>
                    <a:p>
                      <a:pPr algn="ctr"/>
                      <a:r>
                        <a:rPr sz="1100">
                          <a:solidFill>
                            <a:srgbClr val="0B0B0B"/>
                          </a:solidFill>
                        </a:rPr>
                        <a:t>0.7</a:t>
                      </a:r>
                    </a:p>
                  </a:txBody>
                  <a:tcPr marL="54864" marR="54864" marT="18288" marB="18288" anchor="ctr">
                    <a:solidFill>
                      <a:srgbClr val="FFFFFF"/>
                    </a:solidFill>
                  </a:tcPr>
                </a:tc>
                <a:tc>
                  <a:txBody>
                    <a:bodyPr/>
                    <a:lstStyle/>
                    <a:p>
                      <a:pPr algn="ctr"/>
                      <a:r>
                        <a:rPr sz="1100">
                          <a:solidFill>
                            <a:srgbClr val="0B0B0B"/>
                          </a:solidFill>
                        </a:rPr>
                        <a:t>6.1</a:t>
                      </a:r>
                    </a:p>
                  </a:txBody>
                  <a:tcPr marL="54864" marR="54864" marT="18288" marB="18288" anchor="ctr">
                    <a:solidFill>
                      <a:srgbClr val="FFFFFF"/>
                    </a:solidFill>
                  </a:tcPr>
                </a:tc>
              </a:tr>
            </a:tbl>
          </a:graphicData>
        </a:graphic>
      </p:graphicFrame>
      <p:sp>
        <p:nvSpPr>
          <p:cNvPr id="7" name="TextBox 6"/>
          <p:cNvSpPr txBox="1"/>
          <p:nvPr/>
        </p:nvSpPr>
        <p:spPr>
          <a:xfrm>
            <a:off x="8869680" y="3657600"/>
            <a:ext cx="2743200" cy="914400"/>
          </a:xfrm>
          <a:prstGeom prst="rect">
            <a:avLst/>
          </a:prstGeom>
          <a:noFill/>
        </p:spPr>
        <p:txBody>
          <a:bodyPr wrap="square">
            <a:spAutoFit/>
          </a:bodyPr>
          <a:lstStyle/>
          <a:p>
            <a:r>
              <a:rPr sz="1100">
                <a:solidFill>
                  <a:srgbClr val="52514E"/>
                </a:solidFill>
              </a:rPr>
              <a:t>気相のみ温度依存密度だが、圧力損失への影響は0.2%未満と評価済み</a:t>
            </a:r>
          </a:p>
        </p:txBody>
      </p:sp>
      <p:sp>
        <p:nvSpPr>
          <p:cNvPr id="8" name="TextBox 7"/>
          <p:cNvSpPr txBox="1"/>
          <p:nvPr/>
        </p:nvSpPr>
        <p:spPr>
          <a:xfrm>
            <a:off x="11521440" y="6492240"/>
            <a:ext cx="548640" cy="274320"/>
          </a:xfrm>
          <a:prstGeom prst="rect">
            <a:avLst/>
          </a:prstGeom>
          <a:noFill/>
        </p:spPr>
        <p:txBody>
          <a:bodyPr wrap="none">
            <a:spAutoFit/>
          </a:bodyPr>
          <a:lstStyle/>
          <a:p>
            <a:r>
              <a:rPr sz="1000">
                <a:solidFill>
                  <a:srgbClr val="52514E"/>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METHOD</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2.6-2.7 初期・境界条件／数値スキーム</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64240" cy="822960"/>
          </a:xfrm>
          <a:prstGeom prst="rect">
            <a:avLst/>
          </a:prstGeom>
          <a:noFill/>
        </p:spPr>
        <p:txBody>
          <a:bodyPr wrap="square">
            <a:spAutoFit/>
          </a:bodyPr>
          <a:lstStyle/>
          <a:p>
            <a:r>
              <a:rPr sz="1300">
                <a:solidFill>
                  <a:srgbClr val="52514E"/>
                </a:solidFill>
              </a:rPr>
              <a:t>初期条件：alpha.air=0（全域水）、p=p_rgh=1×10⁵ Pa、T=298.15 K。入口は均質流仮定（スリップ比 S=1）：U.air=U.water=(jG+jL)/100 [m/s]、alpha.air=jG/(jG+jL)</a:t>
            </a:r>
          </a:p>
        </p:txBody>
      </p:sp>
      <p:graphicFrame>
        <p:nvGraphicFramePr>
          <p:cNvPr id="6" name="Table 5"/>
          <p:cNvGraphicFramePr>
            <a:graphicFrameLocks noGrp="1"/>
          </p:cNvGraphicFramePr>
          <p:nvPr/>
        </p:nvGraphicFramePr>
        <p:xfrm>
          <a:off x="548640" y="2697480"/>
          <a:ext cx="10881360" cy="1645920"/>
        </p:xfrm>
        <a:graphic>
          <a:graphicData uri="http://schemas.openxmlformats.org/drawingml/2006/table">
            <a:tbl>
              <a:tblPr firstRow="1" bandRow="1">
                <a:tableStyleId>{5C22544A-7EE6-4342-B048-85BDC9FD1C3A}</a:tableStyleId>
              </a:tblPr>
              <a:tblGrid>
                <a:gridCol w="2377440"/>
                <a:gridCol w="2743200"/>
                <a:gridCol w="3291840"/>
                <a:gridCol w="2468880"/>
              </a:tblGrid>
              <a:tr h="411480">
                <a:tc>
                  <a:txBody>
                    <a:bodyPr/>
                    <a:lstStyle/>
                    <a:p>
                      <a:pPr algn="ctr"/>
                      <a:r>
                        <a:rPr sz="1200" b="1">
                          <a:solidFill>
                            <a:srgbClr val="FFFFFF"/>
                          </a:solidFill>
                        </a:rPr>
                        <a:t>場</a:t>
                      </a:r>
                    </a:p>
                  </a:txBody>
                  <a:tcPr marL="54864" marR="54864" marT="18288" marB="18288" anchor="ctr">
                    <a:solidFill>
                      <a:srgbClr val="2A78D6"/>
                    </a:solidFill>
                  </a:tcPr>
                </a:tc>
                <a:tc>
                  <a:txBody>
                    <a:bodyPr/>
                    <a:lstStyle/>
                    <a:p>
                      <a:pPr algn="ctr"/>
                      <a:r>
                        <a:rPr sz="1200" b="1">
                          <a:solidFill>
                            <a:srgbClr val="FFFFFF"/>
                          </a:solidFill>
                        </a:rPr>
                        <a:t>INLET</a:t>
                      </a:r>
                    </a:p>
                  </a:txBody>
                  <a:tcPr marL="54864" marR="54864" marT="18288" marB="18288" anchor="ctr">
                    <a:solidFill>
                      <a:srgbClr val="2A78D6"/>
                    </a:solidFill>
                  </a:tcPr>
                </a:tc>
                <a:tc>
                  <a:txBody>
                    <a:bodyPr/>
                    <a:lstStyle/>
                    <a:p>
                      <a:pPr algn="ctr"/>
                      <a:r>
                        <a:rPr sz="1200" b="1">
                          <a:solidFill>
                            <a:srgbClr val="FFFFFF"/>
                          </a:solidFill>
                        </a:rPr>
                        <a:t>OUTLET</a:t>
                      </a:r>
                    </a:p>
                  </a:txBody>
                  <a:tcPr marL="54864" marR="54864" marT="18288" marB="18288" anchor="ctr">
                    <a:solidFill>
                      <a:srgbClr val="2A78D6"/>
                    </a:solidFill>
                  </a:tcPr>
                </a:tc>
                <a:tc>
                  <a:txBody>
                    <a:bodyPr/>
                    <a:lstStyle/>
                    <a:p>
                      <a:pPr algn="ctr"/>
                      <a:r>
                        <a:rPr sz="1200" b="1">
                          <a:solidFill>
                            <a:srgbClr val="FFFFFF"/>
                          </a:solidFill>
                        </a:rPr>
                        <a:t>WALL</a:t>
                      </a:r>
                    </a:p>
                  </a:txBody>
                  <a:tcPr marL="54864" marR="54864" marT="18288" marB="18288" anchor="ctr">
                    <a:solidFill>
                      <a:srgbClr val="2A78D6"/>
                    </a:solidFill>
                  </a:tcPr>
                </a:tc>
              </a:tr>
              <a:tr h="411480">
                <a:tc>
                  <a:txBody>
                    <a:bodyPr/>
                    <a:lstStyle/>
                    <a:p>
                      <a:pPr algn="ctr"/>
                      <a:r>
                        <a:rPr sz="1200">
                          <a:solidFill>
                            <a:srgbClr val="0B0B0B"/>
                          </a:solidFill>
                        </a:rPr>
                        <a:t>U.air / U.water</a:t>
                      </a:r>
                    </a:p>
                  </a:txBody>
                  <a:tcPr marL="54864" marR="54864" marT="18288" marB="18288" anchor="ctr">
                    <a:solidFill>
                      <a:srgbClr val="FFFFFF"/>
                    </a:solidFill>
                  </a:tcPr>
                </a:tc>
                <a:tc>
                  <a:txBody>
                    <a:bodyPr/>
                    <a:lstStyle/>
                    <a:p>
                      <a:pPr algn="ctr"/>
                      <a:r>
                        <a:rPr sz="1200">
                          <a:solidFill>
                            <a:srgbClr val="0B0B0B"/>
                          </a:solidFill>
                        </a:rPr>
                        <a:t>fixedValue</a:t>
                      </a:r>
                    </a:p>
                  </a:txBody>
                  <a:tcPr marL="54864" marR="54864" marT="18288" marB="18288" anchor="ctr">
                    <a:solidFill>
                      <a:srgbClr val="FFFFFF"/>
                    </a:solidFill>
                  </a:tcPr>
                </a:tc>
                <a:tc>
                  <a:txBody>
                    <a:bodyPr/>
                    <a:lstStyle/>
                    <a:p>
                      <a:pPr algn="ctr"/>
                      <a:r>
                        <a:rPr sz="1200">
                          <a:solidFill>
                            <a:srgbClr val="0B0B0B"/>
                          </a:solidFill>
                        </a:rPr>
                        <a:t>pressureInletOutletVelocity</a:t>
                      </a:r>
                    </a:p>
                  </a:txBody>
                  <a:tcPr marL="54864" marR="54864" marT="18288" marB="18288" anchor="ctr">
                    <a:solidFill>
                      <a:srgbClr val="FFFFFF"/>
                    </a:solidFill>
                  </a:tcPr>
                </a:tc>
                <a:tc>
                  <a:txBody>
                    <a:bodyPr/>
                    <a:lstStyle/>
                    <a:p>
                      <a:pPr algn="ctr"/>
                      <a:r>
                        <a:rPr sz="1200">
                          <a:solidFill>
                            <a:srgbClr val="0B0B0B"/>
                          </a:solidFill>
                        </a:rPr>
                        <a:t>fixedValue (0,0,0)</a:t>
                      </a:r>
                    </a:p>
                  </a:txBody>
                  <a:tcPr marL="54864" marR="54864" marT="18288" marB="18288" anchor="ctr">
                    <a:solidFill>
                      <a:srgbClr val="FFFFFF"/>
                    </a:solidFill>
                  </a:tcPr>
                </a:tc>
              </a:tr>
              <a:tr h="411480">
                <a:tc>
                  <a:txBody>
                    <a:bodyPr/>
                    <a:lstStyle/>
                    <a:p>
                      <a:pPr algn="ctr"/>
                      <a:r>
                        <a:rPr sz="1200">
                          <a:solidFill>
                            <a:srgbClr val="0B0B0B"/>
                          </a:solidFill>
                        </a:rPr>
                        <a:t>alpha.air</a:t>
                      </a:r>
                    </a:p>
                  </a:txBody>
                  <a:tcPr marL="54864" marR="54864" marT="18288" marB="18288" anchor="ctr">
                    <a:solidFill>
                      <a:srgbClr val="F2F1EC"/>
                    </a:solidFill>
                  </a:tcPr>
                </a:tc>
                <a:tc>
                  <a:txBody>
                    <a:bodyPr/>
                    <a:lstStyle/>
                    <a:p>
                      <a:pPr algn="ctr"/>
                      <a:r>
                        <a:rPr sz="1200">
                          <a:solidFill>
                            <a:srgbClr val="0B0B0B"/>
                          </a:solidFill>
                        </a:rPr>
                        <a:t>fixedValue α_in</a:t>
                      </a:r>
                    </a:p>
                  </a:txBody>
                  <a:tcPr marL="54864" marR="54864" marT="18288" marB="18288" anchor="ctr">
                    <a:solidFill>
                      <a:srgbClr val="F2F1EC"/>
                    </a:solidFill>
                  </a:tcPr>
                </a:tc>
                <a:tc>
                  <a:txBody>
                    <a:bodyPr/>
                    <a:lstStyle/>
                    <a:p>
                      <a:pPr algn="ctr"/>
                      <a:r>
                        <a:rPr sz="1200">
                          <a:solidFill>
                            <a:srgbClr val="0B0B0B"/>
                          </a:solidFill>
                        </a:rPr>
                        <a:t>inletOutlet</a:t>
                      </a:r>
                    </a:p>
                  </a:txBody>
                  <a:tcPr marL="54864" marR="54864" marT="18288" marB="18288" anchor="ctr">
                    <a:solidFill>
                      <a:srgbClr val="F2F1EC"/>
                    </a:solidFill>
                  </a:tcPr>
                </a:tc>
                <a:tc>
                  <a:txBody>
                    <a:bodyPr/>
                    <a:lstStyle/>
                    <a:p>
                      <a:pPr algn="ctr"/>
                      <a:r>
                        <a:rPr sz="1200">
                          <a:solidFill>
                            <a:srgbClr val="0B0B0B"/>
                          </a:solidFill>
                        </a:rPr>
                        <a:t>zeroGradient</a:t>
                      </a:r>
                    </a:p>
                  </a:txBody>
                  <a:tcPr marL="54864" marR="54864" marT="18288" marB="18288" anchor="ctr">
                    <a:solidFill>
                      <a:srgbClr val="F2F1EC"/>
                    </a:solidFill>
                  </a:tcPr>
                </a:tc>
              </a:tr>
              <a:tr h="411480">
                <a:tc>
                  <a:txBody>
                    <a:bodyPr/>
                    <a:lstStyle/>
                    <a:p>
                      <a:pPr algn="ctr"/>
                      <a:r>
                        <a:rPr sz="1200">
                          <a:solidFill>
                            <a:srgbClr val="0B0B0B"/>
                          </a:solidFill>
                        </a:rPr>
                        <a:t>p_rgh</a:t>
                      </a:r>
                    </a:p>
                  </a:txBody>
                  <a:tcPr marL="54864" marR="54864" marT="18288" marB="18288" anchor="ctr">
                    <a:solidFill>
                      <a:srgbClr val="FFFFFF"/>
                    </a:solidFill>
                  </a:tcPr>
                </a:tc>
                <a:tc>
                  <a:txBody>
                    <a:bodyPr/>
                    <a:lstStyle/>
                    <a:p>
                      <a:pPr algn="ctr"/>
                      <a:r>
                        <a:rPr sz="1200">
                          <a:solidFill>
                            <a:srgbClr val="0B0B0B"/>
                          </a:solidFill>
                        </a:rPr>
                        <a:t>fixedFluxPressure</a:t>
                      </a:r>
                    </a:p>
                  </a:txBody>
                  <a:tcPr marL="54864" marR="54864" marT="18288" marB="18288" anchor="ctr">
                    <a:solidFill>
                      <a:srgbClr val="FFFFFF"/>
                    </a:solidFill>
                  </a:tcPr>
                </a:tc>
                <a:tc>
                  <a:txBody>
                    <a:bodyPr/>
                    <a:lstStyle/>
                    <a:p>
                      <a:pPr algn="ctr"/>
                      <a:r>
                        <a:rPr sz="1200">
                          <a:solidFill>
                            <a:srgbClr val="0B0B0B"/>
                          </a:solidFill>
                        </a:rPr>
                        <a:t>prghPressure 1e5</a:t>
                      </a:r>
                    </a:p>
                  </a:txBody>
                  <a:tcPr marL="54864" marR="54864" marT="18288" marB="18288" anchor="ctr">
                    <a:solidFill>
                      <a:srgbClr val="FFFFFF"/>
                    </a:solidFill>
                  </a:tcPr>
                </a:tc>
                <a:tc>
                  <a:txBody>
                    <a:bodyPr/>
                    <a:lstStyle/>
                    <a:p>
                      <a:pPr algn="ctr"/>
                      <a:r>
                        <a:rPr sz="1200">
                          <a:solidFill>
                            <a:srgbClr val="0B0B0B"/>
                          </a:solidFill>
                        </a:rPr>
                        <a:t>fixedFluxPressure</a:t>
                      </a:r>
                    </a:p>
                  </a:txBody>
                  <a:tcPr marL="54864" marR="54864" marT="18288" marB="18288" anchor="ctr">
                    <a:solidFill>
                      <a:srgbClr val="FFFFFF"/>
                    </a:solidFill>
                  </a:tcPr>
                </a:tc>
              </a:tr>
            </a:tbl>
          </a:graphicData>
        </a:graphic>
      </p:graphicFrame>
      <p:graphicFrame>
        <p:nvGraphicFramePr>
          <p:cNvPr id="7" name="Table 6"/>
          <p:cNvGraphicFramePr>
            <a:graphicFrameLocks noGrp="1"/>
          </p:cNvGraphicFramePr>
          <p:nvPr/>
        </p:nvGraphicFramePr>
        <p:xfrm>
          <a:off x="548640" y="4572000"/>
          <a:ext cx="11064240" cy="1828800"/>
        </p:xfrm>
        <a:graphic>
          <a:graphicData uri="http://schemas.openxmlformats.org/drawingml/2006/table">
            <a:tbl>
              <a:tblPr firstRow="1" bandRow="1">
                <a:tableStyleId>{5C22544A-7EE6-4342-B048-85BDC9FD1C3A}</a:tableStyleId>
              </a:tblPr>
              <a:tblGrid>
                <a:gridCol w="2926080"/>
                <a:gridCol w="8138160"/>
              </a:tblGrid>
              <a:tr h="365760">
                <a:tc>
                  <a:txBody>
                    <a:bodyPr/>
                    <a:lstStyle/>
                    <a:p>
                      <a:pPr algn="ctr"/>
                      <a:r>
                        <a:rPr sz="1200" b="1">
                          <a:solidFill>
                            <a:srgbClr val="FFFFFF"/>
                          </a:solidFill>
                        </a:rPr>
                        <a:t>項目</a:t>
                      </a:r>
                    </a:p>
                  </a:txBody>
                  <a:tcPr marL="54864" marR="54864" marT="18288" marB="18288" anchor="ctr">
                    <a:solidFill>
                      <a:srgbClr val="2A78D6"/>
                    </a:solidFill>
                  </a:tcPr>
                </a:tc>
                <a:tc>
                  <a:txBody>
                    <a:bodyPr/>
                    <a:lstStyle/>
                    <a:p>
                      <a:pPr algn="ctr"/>
                      <a:r>
                        <a:rPr sz="1200" b="1">
                          <a:solidFill>
                            <a:srgbClr val="FFFFFF"/>
                          </a:solidFill>
                        </a:rPr>
                        <a:t>設定</a:t>
                      </a:r>
                    </a:p>
                  </a:txBody>
                  <a:tcPr marL="54864" marR="54864" marT="18288" marB="18288" anchor="ctr">
                    <a:solidFill>
                      <a:srgbClr val="2A78D6"/>
                    </a:solidFill>
                  </a:tcPr>
                </a:tc>
              </a:tr>
              <a:tr h="365760">
                <a:tc>
                  <a:txBody>
                    <a:bodyPr/>
                    <a:lstStyle/>
                    <a:p>
                      <a:pPr algn="ctr"/>
                      <a:r>
                        <a:rPr sz="1200">
                          <a:solidFill>
                            <a:srgbClr val="0B0B0B"/>
                          </a:solidFill>
                        </a:rPr>
                        <a:t>時間項</a:t>
                      </a:r>
                    </a:p>
                  </a:txBody>
                  <a:tcPr marL="54864" marR="54864" marT="18288" marB="18288" anchor="ctr">
                    <a:solidFill>
                      <a:srgbClr val="FFFFFF"/>
                    </a:solidFill>
                  </a:tcPr>
                </a:tc>
                <a:tc>
                  <a:txBody>
                    <a:bodyPr/>
                    <a:lstStyle/>
                    <a:p>
                      <a:pPr algn="ctr"/>
                      <a:r>
                        <a:rPr sz="1200">
                          <a:solidFill>
                            <a:srgbClr val="0B0B0B"/>
                          </a:solidFill>
                        </a:rPr>
                        <a:t>Euler（1次陰解法）、adjustTimeStep, maxCo=0.5</a:t>
                      </a:r>
                    </a:p>
                  </a:txBody>
                  <a:tcPr marL="54864" marR="54864" marT="18288" marB="18288" anchor="ctr">
                    <a:solidFill>
                      <a:srgbClr val="FFFFFF"/>
                    </a:solidFill>
                  </a:tcPr>
                </a:tc>
              </a:tr>
              <a:tr h="365760">
                <a:tc>
                  <a:txBody>
                    <a:bodyPr/>
                    <a:lstStyle/>
                    <a:p>
                      <a:pPr algn="ctr"/>
                      <a:r>
                        <a:rPr sz="1200">
                          <a:solidFill>
                            <a:srgbClr val="0B0B0B"/>
                          </a:solidFill>
                        </a:rPr>
                        <a:t>移流項（α）</a:t>
                      </a:r>
                    </a:p>
                  </a:txBody>
                  <a:tcPr marL="54864" marR="54864" marT="18288" marB="18288" anchor="ctr">
                    <a:solidFill>
                      <a:srgbClr val="F2F1EC"/>
                    </a:solidFill>
                  </a:tcPr>
                </a:tc>
                <a:tc>
                  <a:txBody>
                    <a:bodyPr/>
                    <a:lstStyle/>
                    <a:p>
                      <a:pPr algn="ctr"/>
                      <a:r>
                        <a:rPr sz="1200">
                          <a:solidFill>
                            <a:srgbClr val="0B0B0B"/>
                          </a:solidFill>
                        </a:rPr>
                        <a:t>Gauss vanLeer（MULES, nAlphaSubCycles=2）</a:t>
                      </a:r>
                    </a:p>
                  </a:txBody>
                  <a:tcPr marL="54864" marR="54864" marT="18288" marB="18288" anchor="ctr">
                    <a:solidFill>
                      <a:srgbClr val="F2F1EC"/>
                    </a:solidFill>
                  </a:tcPr>
                </a:tc>
              </a:tr>
              <a:tr h="365760">
                <a:tc>
                  <a:txBody>
                    <a:bodyPr/>
                    <a:lstStyle/>
                    <a:p>
                      <a:pPr algn="ctr"/>
                      <a:r>
                        <a:rPr sz="1200">
                          <a:solidFill>
                            <a:srgbClr val="0B0B0B"/>
                          </a:solidFill>
                        </a:rPr>
                        <a:t>圧力ソルバ</a:t>
                      </a:r>
                    </a:p>
                  </a:txBody>
                  <a:tcPr marL="54864" marR="54864" marT="18288" marB="18288" anchor="ctr">
                    <a:solidFill>
                      <a:srgbClr val="FFFFFF"/>
                    </a:solidFill>
                  </a:tcPr>
                </a:tc>
                <a:tc>
                  <a:txBody>
                    <a:bodyPr/>
                    <a:lstStyle/>
                    <a:p>
                      <a:pPr algn="ctr"/>
                      <a:r>
                        <a:rPr sz="1200">
                          <a:solidFill>
                            <a:srgbClr val="0B0B0B"/>
                          </a:solidFill>
                        </a:rPr>
                        <a:t>GAMG + DIC, tol=1×10⁻⁸</a:t>
                      </a:r>
                    </a:p>
                  </a:txBody>
                  <a:tcPr marL="54864" marR="54864" marT="18288" marB="18288" anchor="ctr">
                    <a:solidFill>
                      <a:srgbClr val="FFFFFF"/>
                    </a:solidFill>
                  </a:tcPr>
                </a:tc>
              </a:tr>
              <a:tr h="365760">
                <a:tc>
                  <a:txBody>
                    <a:bodyPr/>
                    <a:lstStyle/>
                    <a:p>
                      <a:pPr algn="ctr"/>
                      <a:r>
                        <a:rPr sz="1200">
                          <a:solidFill>
                            <a:srgbClr val="0B0B0B"/>
                          </a:solidFill>
                        </a:rPr>
                        <a:t>PIMPLE</a:t>
                      </a:r>
                    </a:p>
                  </a:txBody>
                  <a:tcPr marL="54864" marR="54864" marT="18288" marB="18288" anchor="ctr">
                    <a:solidFill>
                      <a:srgbClr val="F2F1EC"/>
                    </a:solidFill>
                  </a:tcPr>
                </a:tc>
                <a:tc>
                  <a:txBody>
                    <a:bodyPr/>
                    <a:lstStyle/>
                    <a:p>
                      <a:pPr algn="ctr"/>
                      <a:r>
                        <a:rPr sz="1200">
                          <a:solidFill>
                            <a:srgbClr val="0B0B0B"/>
                          </a:solidFill>
                        </a:rPr>
                        <a:t>nOuterCorrectors=3, nCorrectors=1</a:t>
                      </a:r>
                    </a:p>
                  </a:txBody>
                  <a:tcPr marL="54864" marR="54864" marT="18288" marB="18288" anchor="ctr">
                    <a:solidFill>
                      <a:srgbClr val="F2F1EC"/>
                    </a:solidFill>
                  </a:tcPr>
                </a:tc>
              </a:tr>
            </a:tbl>
          </a:graphicData>
        </a:graphic>
      </p:graphicFrame>
      <p:sp>
        <p:nvSpPr>
          <p:cNvPr id="8" name="TextBox 7"/>
          <p:cNvSpPr txBox="1"/>
          <p:nvPr/>
        </p:nvSpPr>
        <p:spPr>
          <a:xfrm>
            <a:off x="11521440" y="6492240"/>
            <a:ext cx="548640" cy="274320"/>
          </a:xfrm>
          <a:prstGeom prst="rect">
            <a:avLst/>
          </a:prstGeom>
          <a:noFill/>
        </p:spPr>
        <p:txBody>
          <a:bodyPr wrap="none">
            <a:spAutoFit/>
          </a:bodyPr>
          <a:lstStyle/>
          <a:p>
            <a:r>
              <a:rPr sz="1000">
                <a:solidFill>
                  <a:srgbClr val="52514E"/>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CONDITIONS</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3. 解析条件</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64240" cy="365760"/>
          </a:xfrm>
          <a:prstGeom prst="rect">
            <a:avLst/>
          </a:prstGeom>
          <a:noFill/>
        </p:spPr>
        <p:txBody>
          <a:bodyPr wrap="none">
            <a:spAutoFit/>
          </a:bodyPr>
          <a:lstStyle/>
          <a:p>
            <a:r>
              <a:rPr sz="1400">
                <a:solidFill>
                  <a:srgbClr val="52514E"/>
                </a:solidFill>
              </a:rPr>
              <a:t>conditions.csv から generateCases.sh により 8 ケースを自動生成（jL・jG は cm/s、a は実験計測ボイド率）</a:t>
            </a:r>
          </a:p>
        </p:txBody>
      </p:sp>
      <p:graphicFrame>
        <p:nvGraphicFramePr>
          <p:cNvPr id="6" name="Table 5"/>
          <p:cNvGraphicFramePr>
            <a:graphicFrameLocks noGrp="1"/>
          </p:cNvGraphicFramePr>
          <p:nvPr/>
        </p:nvGraphicFramePr>
        <p:xfrm>
          <a:off x="548640" y="2286000"/>
          <a:ext cx="10607040" cy="3456432"/>
        </p:xfrm>
        <a:graphic>
          <a:graphicData uri="http://schemas.openxmlformats.org/drawingml/2006/table">
            <a:tbl>
              <a:tblPr firstRow="1" bandRow="1">
                <a:tableStyleId>{5C22544A-7EE6-4342-B048-85BDC9FD1C3A}</a:tableStyleId>
              </a:tblPr>
              <a:tblGrid>
                <a:gridCol w="1463040"/>
                <a:gridCol w="1828800"/>
                <a:gridCol w="1828800"/>
                <a:gridCol w="1828800"/>
                <a:gridCol w="1828800"/>
                <a:gridCol w="1828800"/>
              </a:tblGrid>
              <a:tr h="384048">
                <a:tc>
                  <a:txBody>
                    <a:bodyPr/>
                    <a:lstStyle/>
                    <a:p>
                      <a:pPr algn="ctr"/>
                      <a:r>
                        <a:rPr sz="1300" b="1">
                          <a:solidFill>
                            <a:srgbClr val="FFFFFF"/>
                          </a:solidFill>
                        </a:rPr>
                        <a:t>case</a:t>
                      </a:r>
                    </a:p>
                  </a:txBody>
                  <a:tcPr marL="54864" marR="54864" marT="18288" marB="18288" anchor="ctr">
                    <a:solidFill>
                      <a:srgbClr val="2A78D6"/>
                    </a:solidFill>
                  </a:tcPr>
                </a:tc>
                <a:tc>
                  <a:txBody>
                    <a:bodyPr/>
                    <a:lstStyle/>
                    <a:p>
                      <a:pPr algn="ctr"/>
                      <a:r>
                        <a:rPr sz="1300" b="1">
                          <a:solidFill>
                            <a:srgbClr val="FFFFFF"/>
                          </a:solidFill>
                        </a:rPr>
                        <a:t>jL [cm/s]</a:t>
                      </a:r>
                    </a:p>
                  </a:txBody>
                  <a:tcPr marL="54864" marR="54864" marT="18288" marB="18288" anchor="ctr">
                    <a:solidFill>
                      <a:srgbClr val="2A78D6"/>
                    </a:solidFill>
                  </a:tcPr>
                </a:tc>
                <a:tc>
                  <a:txBody>
                    <a:bodyPr/>
                    <a:lstStyle/>
                    <a:p>
                      <a:pPr algn="ctr"/>
                      <a:r>
                        <a:rPr sz="1300" b="1">
                          <a:solidFill>
                            <a:srgbClr val="FFFFFF"/>
                          </a:solidFill>
                        </a:rPr>
                        <a:t>jG [cm/s]</a:t>
                      </a:r>
                    </a:p>
                  </a:txBody>
                  <a:tcPr marL="54864" marR="54864" marT="18288" marB="18288" anchor="ctr">
                    <a:solidFill>
                      <a:srgbClr val="2A78D6"/>
                    </a:solidFill>
                  </a:tcPr>
                </a:tc>
                <a:tc>
                  <a:txBody>
                    <a:bodyPr/>
                    <a:lstStyle/>
                    <a:p>
                      <a:pPr algn="ctr"/>
                      <a:r>
                        <a:rPr sz="1300" b="1">
                          <a:solidFill>
                            <a:srgbClr val="FFFFFF"/>
                          </a:solidFill>
                        </a:rPr>
                        <a:t>a（実験）</a:t>
                      </a:r>
                    </a:p>
                  </a:txBody>
                  <a:tcPr marL="54864" marR="54864" marT="18288" marB="18288" anchor="ctr">
                    <a:solidFill>
                      <a:srgbClr val="2A78D6"/>
                    </a:solidFill>
                  </a:tcPr>
                </a:tc>
                <a:tc>
                  <a:txBody>
                    <a:bodyPr/>
                    <a:lstStyle/>
                    <a:p>
                      <a:pPr algn="ctr"/>
                      <a:r>
                        <a:rPr sz="1300" b="1">
                          <a:solidFill>
                            <a:srgbClr val="FFFFFF"/>
                          </a:solidFill>
                        </a:rPr>
                        <a:t>U [m/s]</a:t>
                      </a:r>
                    </a:p>
                  </a:txBody>
                  <a:tcPr marL="54864" marR="54864" marT="18288" marB="18288" anchor="ctr">
                    <a:solidFill>
                      <a:srgbClr val="2A78D6"/>
                    </a:solidFill>
                  </a:tcPr>
                </a:tc>
                <a:tc>
                  <a:txBody>
                    <a:bodyPr/>
                    <a:lstStyle/>
                    <a:p>
                      <a:pPr algn="ctr"/>
                      <a:r>
                        <a:rPr sz="1300" b="1">
                          <a:solidFill>
                            <a:srgbClr val="FFFFFF"/>
                          </a:solidFill>
                        </a:rPr>
                        <a:t>α_in</a:t>
                      </a:r>
                    </a:p>
                  </a:txBody>
                  <a:tcPr marL="54864" marR="54864" marT="18288" marB="18288" anchor="ctr">
                    <a:solidFill>
                      <a:srgbClr val="2A78D6"/>
                    </a:solidFill>
                  </a:tcPr>
                </a:tc>
              </a:tr>
              <a:tr h="384048">
                <a:tc>
                  <a:txBody>
                    <a:bodyPr/>
                    <a:lstStyle/>
                    <a:p>
                      <a:pPr algn="ctr"/>
                      <a:r>
                        <a:rPr sz="1300">
                          <a:solidFill>
                            <a:srgbClr val="0B0B0B"/>
                          </a:solidFill>
                        </a:rPr>
                        <a:t>1</a:t>
                      </a:r>
                    </a:p>
                  </a:txBody>
                  <a:tcPr marL="54864" marR="54864" marT="18288" marB="18288" anchor="ctr">
                    <a:solidFill>
                      <a:srgbClr val="FFFFFF"/>
                    </a:solidFill>
                  </a:tcPr>
                </a:tc>
                <a:tc>
                  <a:txBody>
                    <a:bodyPr/>
                    <a:lstStyle/>
                    <a:p>
                      <a:pPr algn="ctr"/>
                      <a:r>
                        <a:rPr sz="1300">
                          <a:solidFill>
                            <a:srgbClr val="0B0B0B"/>
                          </a:solidFill>
                        </a:rPr>
                        <a:t>10.231</a:t>
                      </a:r>
                    </a:p>
                  </a:txBody>
                  <a:tcPr marL="54864" marR="54864" marT="18288" marB="18288" anchor="ctr">
                    <a:solidFill>
                      <a:srgbClr val="FFFFFF"/>
                    </a:solidFill>
                  </a:tcPr>
                </a:tc>
                <a:tc>
                  <a:txBody>
                    <a:bodyPr/>
                    <a:lstStyle/>
                    <a:p>
                      <a:pPr algn="ctr"/>
                      <a:r>
                        <a:rPr sz="1300">
                          <a:solidFill>
                            <a:srgbClr val="0B0B0B"/>
                          </a:solidFill>
                        </a:rPr>
                        <a:t>1.451</a:t>
                      </a:r>
                    </a:p>
                  </a:txBody>
                  <a:tcPr marL="54864" marR="54864" marT="18288" marB="18288" anchor="ctr">
                    <a:solidFill>
                      <a:srgbClr val="FFFFFF"/>
                    </a:solidFill>
                  </a:tcPr>
                </a:tc>
                <a:tc>
                  <a:txBody>
                    <a:bodyPr/>
                    <a:lstStyle/>
                    <a:p>
                      <a:pPr algn="ctr"/>
                      <a:r>
                        <a:rPr sz="1300">
                          <a:solidFill>
                            <a:srgbClr val="0B0B0B"/>
                          </a:solidFill>
                        </a:rPr>
                        <a:t>0.0763</a:t>
                      </a:r>
                    </a:p>
                  </a:txBody>
                  <a:tcPr marL="54864" marR="54864" marT="18288" marB="18288" anchor="ctr">
                    <a:solidFill>
                      <a:srgbClr val="FFFFFF"/>
                    </a:solidFill>
                  </a:tcPr>
                </a:tc>
                <a:tc>
                  <a:txBody>
                    <a:bodyPr/>
                    <a:lstStyle/>
                    <a:p>
                      <a:pPr algn="ctr"/>
                      <a:r>
                        <a:rPr sz="1300">
                          <a:solidFill>
                            <a:srgbClr val="0B0B0B"/>
                          </a:solidFill>
                        </a:rPr>
                        <a:t>0.1168</a:t>
                      </a:r>
                    </a:p>
                  </a:txBody>
                  <a:tcPr marL="54864" marR="54864" marT="18288" marB="18288" anchor="ctr">
                    <a:solidFill>
                      <a:srgbClr val="FFFFFF"/>
                    </a:solidFill>
                  </a:tcPr>
                </a:tc>
                <a:tc>
                  <a:txBody>
                    <a:bodyPr/>
                    <a:lstStyle/>
                    <a:p>
                      <a:pPr algn="ctr"/>
                      <a:r>
                        <a:rPr sz="1300">
                          <a:solidFill>
                            <a:srgbClr val="0B0B0B"/>
                          </a:solidFill>
                        </a:rPr>
                        <a:t>0.1242</a:t>
                      </a:r>
                    </a:p>
                  </a:txBody>
                  <a:tcPr marL="54864" marR="54864" marT="18288" marB="18288" anchor="ctr">
                    <a:solidFill>
                      <a:srgbClr val="FFFFFF"/>
                    </a:solidFill>
                  </a:tcPr>
                </a:tc>
              </a:tr>
              <a:tr h="384048">
                <a:tc>
                  <a:txBody>
                    <a:bodyPr/>
                    <a:lstStyle/>
                    <a:p>
                      <a:pPr algn="ctr"/>
                      <a:r>
                        <a:rPr sz="1300">
                          <a:solidFill>
                            <a:srgbClr val="0B0B0B"/>
                          </a:solidFill>
                        </a:rPr>
                        <a:t>2</a:t>
                      </a:r>
                    </a:p>
                  </a:txBody>
                  <a:tcPr marL="54864" marR="54864" marT="18288" marB="18288" anchor="ctr">
                    <a:solidFill>
                      <a:srgbClr val="F2F1EC"/>
                    </a:solidFill>
                  </a:tcPr>
                </a:tc>
                <a:tc>
                  <a:txBody>
                    <a:bodyPr/>
                    <a:lstStyle/>
                    <a:p>
                      <a:pPr algn="ctr"/>
                      <a:r>
                        <a:rPr sz="1300">
                          <a:solidFill>
                            <a:srgbClr val="0B0B0B"/>
                          </a:solidFill>
                        </a:rPr>
                        <a:t>9.908</a:t>
                      </a:r>
                    </a:p>
                  </a:txBody>
                  <a:tcPr marL="54864" marR="54864" marT="18288" marB="18288" anchor="ctr">
                    <a:solidFill>
                      <a:srgbClr val="F2F1EC"/>
                    </a:solidFill>
                  </a:tcPr>
                </a:tc>
                <a:tc>
                  <a:txBody>
                    <a:bodyPr/>
                    <a:lstStyle/>
                    <a:p>
                      <a:pPr algn="ctr"/>
                      <a:r>
                        <a:rPr sz="1300">
                          <a:solidFill>
                            <a:srgbClr val="0B0B0B"/>
                          </a:solidFill>
                        </a:rPr>
                        <a:t>7.191</a:t>
                      </a:r>
                    </a:p>
                  </a:txBody>
                  <a:tcPr marL="54864" marR="54864" marT="18288" marB="18288" anchor="ctr">
                    <a:solidFill>
                      <a:srgbClr val="F2F1EC"/>
                    </a:solidFill>
                  </a:tcPr>
                </a:tc>
                <a:tc>
                  <a:txBody>
                    <a:bodyPr/>
                    <a:lstStyle/>
                    <a:p>
                      <a:pPr algn="ctr"/>
                      <a:r>
                        <a:rPr sz="1300">
                          <a:solidFill>
                            <a:srgbClr val="0B0B0B"/>
                          </a:solidFill>
                        </a:rPr>
                        <a:t>0.2276</a:t>
                      </a:r>
                    </a:p>
                  </a:txBody>
                  <a:tcPr marL="54864" marR="54864" marT="18288" marB="18288" anchor="ctr">
                    <a:solidFill>
                      <a:srgbClr val="F2F1EC"/>
                    </a:solidFill>
                  </a:tcPr>
                </a:tc>
                <a:tc>
                  <a:txBody>
                    <a:bodyPr/>
                    <a:lstStyle/>
                    <a:p>
                      <a:pPr algn="ctr"/>
                      <a:r>
                        <a:rPr sz="1300">
                          <a:solidFill>
                            <a:srgbClr val="0B0B0B"/>
                          </a:solidFill>
                        </a:rPr>
                        <a:t>0.1710</a:t>
                      </a:r>
                    </a:p>
                  </a:txBody>
                  <a:tcPr marL="54864" marR="54864" marT="18288" marB="18288" anchor="ctr">
                    <a:solidFill>
                      <a:srgbClr val="F2F1EC"/>
                    </a:solidFill>
                  </a:tcPr>
                </a:tc>
                <a:tc>
                  <a:txBody>
                    <a:bodyPr/>
                    <a:lstStyle/>
                    <a:p>
                      <a:pPr algn="ctr"/>
                      <a:r>
                        <a:rPr sz="1300">
                          <a:solidFill>
                            <a:srgbClr val="0B0B0B"/>
                          </a:solidFill>
                        </a:rPr>
                        <a:t>0.4206</a:t>
                      </a:r>
                    </a:p>
                  </a:txBody>
                  <a:tcPr marL="54864" marR="54864" marT="18288" marB="18288" anchor="ctr">
                    <a:solidFill>
                      <a:srgbClr val="F2F1EC"/>
                    </a:solidFill>
                  </a:tcPr>
                </a:tc>
              </a:tr>
              <a:tr h="384048">
                <a:tc>
                  <a:txBody>
                    <a:bodyPr/>
                    <a:lstStyle/>
                    <a:p>
                      <a:pPr algn="ctr"/>
                      <a:r>
                        <a:rPr sz="1300">
                          <a:solidFill>
                            <a:srgbClr val="0B0B0B"/>
                          </a:solidFill>
                        </a:rPr>
                        <a:t>3</a:t>
                      </a:r>
                    </a:p>
                  </a:txBody>
                  <a:tcPr marL="54864" marR="54864" marT="18288" marB="18288" anchor="ctr">
                    <a:solidFill>
                      <a:srgbClr val="FFFFFF"/>
                    </a:solidFill>
                  </a:tcPr>
                </a:tc>
                <a:tc>
                  <a:txBody>
                    <a:bodyPr/>
                    <a:lstStyle/>
                    <a:p>
                      <a:pPr algn="ctr"/>
                      <a:r>
                        <a:rPr sz="1300">
                          <a:solidFill>
                            <a:srgbClr val="0B0B0B"/>
                          </a:solidFill>
                        </a:rPr>
                        <a:t>10.274</a:t>
                      </a:r>
                    </a:p>
                  </a:txBody>
                  <a:tcPr marL="54864" marR="54864" marT="18288" marB="18288" anchor="ctr">
                    <a:solidFill>
                      <a:srgbClr val="FFFFFF"/>
                    </a:solidFill>
                  </a:tcPr>
                </a:tc>
                <a:tc>
                  <a:txBody>
                    <a:bodyPr/>
                    <a:lstStyle/>
                    <a:p>
                      <a:pPr algn="ctr"/>
                      <a:r>
                        <a:rPr sz="1300">
                          <a:solidFill>
                            <a:srgbClr val="0B0B0B"/>
                          </a:solidFill>
                        </a:rPr>
                        <a:t>16.620</a:t>
                      </a:r>
                    </a:p>
                  </a:txBody>
                  <a:tcPr marL="54864" marR="54864" marT="18288" marB="18288" anchor="ctr">
                    <a:solidFill>
                      <a:srgbClr val="FFFFFF"/>
                    </a:solidFill>
                  </a:tcPr>
                </a:tc>
                <a:tc>
                  <a:txBody>
                    <a:bodyPr/>
                    <a:lstStyle/>
                    <a:p>
                      <a:pPr algn="ctr"/>
                      <a:r>
                        <a:rPr sz="1300">
                          <a:solidFill>
                            <a:srgbClr val="0B0B0B"/>
                          </a:solidFill>
                        </a:rPr>
                        <a:t>0.3353</a:t>
                      </a:r>
                    </a:p>
                  </a:txBody>
                  <a:tcPr marL="54864" marR="54864" marT="18288" marB="18288" anchor="ctr">
                    <a:solidFill>
                      <a:srgbClr val="FFFFFF"/>
                    </a:solidFill>
                  </a:tcPr>
                </a:tc>
                <a:tc>
                  <a:txBody>
                    <a:bodyPr/>
                    <a:lstStyle/>
                    <a:p>
                      <a:pPr algn="ctr"/>
                      <a:r>
                        <a:rPr sz="1300">
                          <a:solidFill>
                            <a:srgbClr val="0B0B0B"/>
                          </a:solidFill>
                        </a:rPr>
                        <a:t>0.2689</a:t>
                      </a:r>
                    </a:p>
                  </a:txBody>
                  <a:tcPr marL="54864" marR="54864" marT="18288" marB="18288" anchor="ctr">
                    <a:solidFill>
                      <a:srgbClr val="FFFFFF"/>
                    </a:solidFill>
                  </a:tcPr>
                </a:tc>
                <a:tc>
                  <a:txBody>
                    <a:bodyPr/>
                    <a:lstStyle/>
                    <a:p>
                      <a:pPr algn="ctr"/>
                      <a:r>
                        <a:rPr sz="1300">
                          <a:solidFill>
                            <a:srgbClr val="0B0B0B"/>
                          </a:solidFill>
                        </a:rPr>
                        <a:t>0.6180</a:t>
                      </a:r>
                    </a:p>
                  </a:txBody>
                  <a:tcPr marL="54864" marR="54864" marT="18288" marB="18288" anchor="ctr">
                    <a:solidFill>
                      <a:srgbClr val="FFFFFF"/>
                    </a:solidFill>
                  </a:tcPr>
                </a:tc>
              </a:tr>
              <a:tr h="384048">
                <a:tc>
                  <a:txBody>
                    <a:bodyPr/>
                    <a:lstStyle/>
                    <a:p>
                      <a:pPr algn="ctr"/>
                      <a:r>
                        <a:rPr sz="1300">
                          <a:solidFill>
                            <a:srgbClr val="0B0B0B"/>
                          </a:solidFill>
                        </a:rPr>
                        <a:t>4</a:t>
                      </a:r>
                    </a:p>
                  </a:txBody>
                  <a:tcPr marL="54864" marR="54864" marT="18288" marB="18288" anchor="ctr">
                    <a:solidFill>
                      <a:srgbClr val="F2F1EC"/>
                    </a:solidFill>
                  </a:tcPr>
                </a:tc>
                <a:tc>
                  <a:txBody>
                    <a:bodyPr/>
                    <a:lstStyle/>
                    <a:p>
                      <a:pPr algn="ctr"/>
                      <a:r>
                        <a:rPr sz="1300">
                          <a:solidFill>
                            <a:srgbClr val="0B0B0B"/>
                          </a:solidFill>
                        </a:rPr>
                        <a:t>10.056</a:t>
                      </a:r>
                    </a:p>
                  </a:txBody>
                  <a:tcPr marL="54864" marR="54864" marT="18288" marB="18288" anchor="ctr">
                    <a:solidFill>
                      <a:srgbClr val="F2F1EC"/>
                    </a:solidFill>
                  </a:tcPr>
                </a:tc>
                <a:tc>
                  <a:txBody>
                    <a:bodyPr/>
                    <a:lstStyle/>
                    <a:p>
                      <a:pPr algn="ctr"/>
                      <a:r>
                        <a:rPr sz="1300">
                          <a:solidFill>
                            <a:srgbClr val="0B0B0B"/>
                          </a:solidFill>
                        </a:rPr>
                        <a:t>31.786</a:t>
                      </a:r>
                    </a:p>
                  </a:txBody>
                  <a:tcPr marL="54864" marR="54864" marT="18288" marB="18288" anchor="ctr">
                    <a:solidFill>
                      <a:srgbClr val="F2F1EC"/>
                    </a:solidFill>
                  </a:tcPr>
                </a:tc>
                <a:tc>
                  <a:txBody>
                    <a:bodyPr/>
                    <a:lstStyle/>
                    <a:p>
                      <a:pPr algn="ctr"/>
                      <a:r>
                        <a:rPr sz="1300">
                          <a:solidFill>
                            <a:srgbClr val="0B0B0B"/>
                          </a:solidFill>
                        </a:rPr>
                        <a:t>0.4070</a:t>
                      </a:r>
                    </a:p>
                  </a:txBody>
                  <a:tcPr marL="54864" marR="54864" marT="18288" marB="18288" anchor="ctr">
                    <a:solidFill>
                      <a:srgbClr val="F2F1EC"/>
                    </a:solidFill>
                  </a:tcPr>
                </a:tc>
                <a:tc>
                  <a:txBody>
                    <a:bodyPr/>
                    <a:lstStyle/>
                    <a:p>
                      <a:pPr algn="ctr"/>
                      <a:r>
                        <a:rPr sz="1300">
                          <a:solidFill>
                            <a:srgbClr val="0B0B0B"/>
                          </a:solidFill>
                        </a:rPr>
                        <a:t>0.4184</a:t>
                      </a:r>
                    </a:p>
                  </a:txBody>
                  <a:tcPr marL="54864" marR="54864" marT="18288" marB="18288" anchor="ctr">
                    <a:solidFill>
                      <a:srgbClr val="F2F1EC"/>
                    </a:solidFill>
                  </a:tcPr>
                </a:tc>
                <a:tc>
                  <a:txBody>
                    <a:bodyPr/>
                    <a:lstStyle/>
                    <a:p>
                      <a:pPr algn="ctr"/>
                      <a:r>
                        <a:rPr sz="1300">
                          <a:solidFill>
                            <a:srgbClr val="0B0B0B"/>
                          </a:solidFill>
                        </a:rPr>
                        <a:t>0.7597</a:t>
                      </a:r>
                    </a:p>
                  </a:txBody>
                  <a:tcPr marL="54864" marR="54864" marT="18288" marB="18288" anchor="ctr">
                    <a:solidFill>
                      <a:srgbClr val="F2F1EC"/>
                    </a:solidFill>
                  </a:tcPr>
                </a:tc>
              </a:tr>
              <a:tr h="384048">
                <a:tc>
                  <a:txBody>
                    <a:bodyPr/>
                    <a:lstStyle/>
                    <a:p>
                      <a:pPr algn="ctr"/>
                      <a:r>
                        <a:rPr sz="1300">
                          <a:solidFill>
                            <a:srgbClr val="0B0B0B"/>
                          </a:solidFill>
                        </a:rPr>
                        <a:t>5</a:t>
                      </a:r>
                    </a:p>
                  </a:txBody>
                  <a:tcPr marL="54864" marR="54864" marT="18288" marB="18288" anchor="ctr">
                    <a:solidFill>
                      <a:srgbClr val="FFFFFF"/>
                    </a:solidFill>
                  </a:tcPr>
                </a:tc>
                <a:tc>
                  <a:txBody>
                    <a:bodyPr/>
                    <a:lstStyle/>
                    <a:p>
                      <a:pPr algn="ctr"/>
                      <a:r>
                        <a:rPr sz="1300">
                          <a:solidFill>
                            <a:srgbClr val="0B0B0B"/>
                          </a:solidFill>
                        </a:rPr>
                        <a:t>9.939</a:t>
                      </a:r>
                    </a:p>
                  </a:txBody>
                  <a:tcPr marL="54864" marR="54864" marT="18288" marB="18288" anchor="ctr">
                    <a:solidFill>
                      <a:srgbClr val="FFFFFF"/>
                    </a:solidFill>
                  </a:tcPr>
                </a:tc>
                <a:tc>
                  <a:txBody>
                    <a:bodyPr/>
                    <a:lstStyle/>
                    <a:p>
                      <a:pPr algn="ctr"/>
                      <a:r>
                        <a:rPr sz="1300">
                          <a:solidFill>
                            <a:srgbClr val="0B0B0B"/>
                          </a:solidFill>
                        </a:rPr>
                        <a:t>47.162</a:t>
                      </a:r>
                    </a:p>
                  </a:txBody>
                  <a:tcPr marL="54864" marR="54864" marT="18288" marB="18288" anchor="ctr">
                    <a:solidFill>
                      <a:srgbClr val="FFFFFF"/>
                    </a:solidFill>
                  </a:tcPr>
                </a:tc>
                <a:tc>
                  <a:txBody>
                    <a:bodyPr/>
                    <a:lstStyle/>
                    <a:p>
                      <a:pPr algn="ctr"/>
                      <a:r>
                        <a:rPr sz="1300">
                          <a:solidFill>
                            <a:srgbClr val="0B0B0B"/>
                          </a:solidFill>
                        </a:rPr>
                        <a:t>0.4455</a:t>
                      </a:r>
                    </a:p>
                  </a:txBody>
                  <a:tcPr marL="54864" marR="54864" marT="18288" marB="18288" anchor="ctr">
                    <a:solidFill>
                      <a:srgbClr val="FFFFFF"/>
                    </a:solidFill>
                  </a:tcPr>
                </a:tc>
                <a:tc>
                  <a:txBody>
                    <a:bodyPr/>
                    <a:lstStyle/>
                    <a:p>
                      <a:pPr algn="ctr"/>
                      <a:r>
                        <a:rPr sz="1300">
                          <a:solidFill>
                            <a:srgbClr val="0B0B0B"/>
                          </a:solidFill>
                        </a:rPr>
                        <a:t>0.5710</a:t>
                      </a:r>
                    </a:p>
                  </a:txBody>
                  <a:tcPr marL="54864" marR="54864" marT="18288" marB="18288" anchor="ctr">
                    <a:solidFill>
                      <a:srgbClr val="FFFFFF"/>
                    </a:solidFill>
                  </a:tcPr>
                </a:tc>
                <a:tc>
                  <a:txBody>
                    <a:bodyPr/>
                    <a:lstStyle/>
                    <a:p>
                      <a:pPr algn="ctr"/>
                      <a:r>
                        <a:rPr sz="1300">
                          <a:solidFill>
                            <a:srgbClr val="0B0B0B"/>
                          </a:solidFill>
                        </a:rPr>
                        <a:t>0.8259</a:t>
                      </a:r>
                    </a:p>
                  </a:txBody>
                  <a:tcPr marL="54864" marR="54864" marT="18288" marB="18288" anchor="ctr">
                    <a:solidFill>
                      <a:srgbClr val="FFFFFF"/>
                    </a:solidFill>
                  </a:tcPr>
                </a:tc>
              </a:tr>
              <a:tr h="384048">
                <a:tc>
                  <a:txBody>
                    <a:bodyPr/>
                    <a:lstStyle/>
                    <a:p>
                      <a:pPr algn="ctr"/>
                      <a:r>
                        <a:rPr sz="1300">
                          <a:solidFill>
                            <a:srgbClr val="0B0B0B"/>
                          </a:solidFill>
                        </a:rPr>
                        <a:t>6</a:t>
                      </a:r>
                    </a:p>
                  </a:txBody>
                  <a:tcPr marL="54864" marR="54864" marT="18288" marB="18288" anchor="ctr">
                    <a:solidFill>
                      <a:srgbClr val="F2F1EC"/>
                    </a:solidFill>
                  </a:tcPr>
                </a:tc>
                <a:tc>
                  <a:txBody>
                    <a:bodyPr/>
                    <a:lstStyle/>
                    <a:p>
                      <a:pPr algn="ctr"/>
                      <a:r>
                        <a:rPr sz="1300">
                          <a:solidFill>
                            <a:srgbClr val="0B0B0B"/>
                          </a:solidFill>
                        </a:rPr>
                        <a:t>10.116</a:t>
                      </a:r>
                    </a:p>
                  </a:txBody>
                  <a:tcPr marL="54864" marR="54864" marT="18288" marB="18288" anchor="ctr">
                    <a:solidFill>
                      <a:srgbClr val="F2F1EC"/>
                    </a:solidFill>
                  </a:tcPr>
                </a:tc>
                <a:tc>
                  <a:txBody>
                    <a:bodyPr/>
                    <a:lstStyle/>
                    <a:p>
                      <a:pPr algn="ctr"/>
                      <a:r>
                        <a:rPr sz="1300">
                          <a:solidFill>
                            <a:srgbClr val="0B0B0B"/>
                          </a:solidFill>
                        </a:rPr>
                        <a:t>61.113</a:t>
                      </a:r>
                    </a:p>
                  </a:txBody>
                  <a:tcPr marL="54864" marR="54864" marT="18288" marB="18288" anchor="ctr">
                    <a:solidFill>
                      <a:srgbClr val="F2F1EC"/>
                    </a:solidFill>
                  </a:tcPr>
                </a:tc>
                <a:tc>
                  <a:txBody>
                    <a:bodyPr/>
                    <a:lstStyle/>
                    <a:p>
                      <a:pPr algn="ctr"/>
                      <a:r>
                        <a:rPr sz="1300">
                          <a:solidFill>
                            <a:srgbClr val="0B0B0B"/>
                          </a:solidFill>
                        </a:rPr>
                        <a:t>0.4666</a:t>
                      </a:r>
                    </a:p>
                  </a:txBody>
                  <a:tcPr marL="54864" marR="54864" marT="18288" marB="18288" anchor="ctr">
                    <a:solidFill>
                      <a:srgbClr val="F2F1EC"/>
                    </a:solidFill>
                  </a:tcPr>
                </a:tc>
                <a:tc>
                  <a:txBody>
                    <a:bodyPr/>
                    <a:lstStyle/>
                    <a:p>
                      <a:pPr algn="ctr"/>
                      <a:r>
                        <a:rPr sz="1300">
                          <a:solidFill>
                            <a:srgbClr val="0B0B0B"/>
                          </a:solidFill>
                        </a:rPr>
                        <a:t>0.7123</a:t>
                      </a:r>
                    </a:p>
                  </a:txBody>
                  <a:tcPr marL="54864" marR="54864" marT="18288" marB="18288" anchor="ctr">
                    <a:solidFill>
                      <a:srgbClr val="F2F1EC"/>
                    </a:solidFill>
                  </a:tcPr>
                </a:tc>
                <a:tc>
                  <a:txBody>
                    <a:bodyPr/>
                    <a:lstStyle/>
                    <a:p>
                      <a:pPr algn="ctr"/>
                      <a:r>
                        <a:rPr sz="1300">
                          <a:solidFill>
                            <a:srgbClr val="0B0B0B"/>
                          </a:solidFill>
                        </a:rPr>
                        <a:t>0.8580</a:t>
                      </a:r>
                    </a:p>
                  </a:txBody>
                  <a:tcPr marL="54864" marR="54864" marT="18288" marB="18288" anchor="ctr">
                    <a:solidFill>
                      <a:srgbClr val="F2F1EC"/>
                    </a:solidFill>
                  </a:tcPr>
                </a:tc>
              </a:tr>
              <a:tr h="384048">
                <a:tc>
                  <a:txBody>
                    <a:bodyPr/>
                    <a:lstStyle/>
                    <a:p>
                      <a:pPr algn="ctr"/>
                      <a:r>
                        <a:rPr sz="1300">
                          <a:solidFill>
                            <a:srgbClr val="0B0B0B"/>
                          </a:solidFill>
                        </a:rPr>
                        <a:t>7</a:t>
                      </a:r>
                    </a:p>
                  </a:txBody>
                  <a:tcPr marL="54864" marR="54864" marT="18288" marB="18288" anchor="ctr">
                    <a:solidFill>
                      <a:srgbClr val="FFFFFF"/>
                    </a:solidFill>
                  </a:tcPr>
                </a:tc>
                <a:tc>
                  <a:txBody>
                    <a:bodyPr/>
                    <a:lstStyle/>
                    <a:p>
                      <a:pPr algn="ctr"/>
                      <a:r>
                        <a:rPr sz="1300">
                          <a:solidFill>
                            <a:srgbClr val="0B0B0B"/>
                          </a:solidFill>
                        </a:rPr>
                        <a:t>9.953</a:t>
                      </a:r>
                    </a:p>
                  </a:txBody>
                  <a:tcPr marL="54864" marR="54864" marT="18288" marB="18288" anchor="ctr">
                    <a:solidFill>
                      <a:srgbClr val="FFFFFF"/>
                    </a:solidFill>
                  </a:tcPr>
                </a:tc>
                <a:tc>
                  <a:txBody>
                    <a:bodyPr/>
                    <a:lstStyle/>
                    <a:p>
                      <a:pPr algn="ctr"/>
                      <a:r>
                        <a:rPr sz="1300">
                          <a:solidFill>
                            <a:srgbClr val="0B0B0B"/>
                          </a:solidFill>
                        </a:rPr>
                        <a:t>74.078</a:t>
                      </a:r>
                    </a:p>
                  </a:txBody>
                  <a:tcPr marL="54864" marR="54864" marT="18288" marB="18288" anchor="ctr">
                    <a:solidFill>
                      <a:srgbClr val="FFFFFF"/>
                    </a:solidFill>
                  </a:tcPr>
                </a:tc>
                <a:tc>
                  <a:txBody>
                    <a:bodyPr/>
                    <a:lstStyle/>
                    <a:p>
                      <a:pPr algn="ctr"/>
                      <a:r>
                        <a:rPr sz="1300">
                          <a:solidFill>
                            <a:srgbClr val="0B0B0B"/>
                          </a:solidFill>
                        </a:rPr>
                        <a:t>0.4905</a:t>
                      </a:r>
                    </a:p>
                  </a:txBody>
                  <a:tcPr marL="54864" marR="54864" marT="18288" marB="18288" anchor="ctr">
                    <a:solidFill>
                      <a:srgbClr val="FFFFFF"/>
                    </a:solidFill>
                  </a:tcPr>
                </a:tc>
                <a:tc>
                  <a:txBody>
                    <a:bodyPr/>
                    <a:lstStyle/>
                    <a:p>
                      <a:pPr algn="ctr"/>
                      <a:r>
                        <a:rPr sz="1300">
                          <a:solidFill>
                            <a:srgbClr val="0B0B0B"/>
                          </a:solidFill>
                        </a:rPr>
                        <a:t>0.8403</a:t>
                      </a:r>
                    </a:p>
                  </a:txBody>
                  <a:tcPr marL="54864" marR="54864" marT="18288" marB="18288" anchor="ctr">
                    <a:solidFill>
                      <a:srgbClr val="FFFFFF"/>
                    </a:solidFill>
                  </a:tcPr>
                </a:tc>
                <a:tc>
                  <a:txBody>
                    <a:bodyPr/>
                    <a:lstStyle/>
                    <a:p>
                      <a:pPr algn="ctr"/>
                      <a:r>
                        <a:rPr sz="1300">
                          <a:solidFill>
                            <a:srgbClr val="0B0B0B"/>
                          </a:solidFill>
                        </a:rPr>
                        <a:t>0.8816</a:t>
                      </a:r>
                    </a:p>
                  </a:txBody>
                  <a:tcPr marL="54864" marR="54864" marT="18288" marB="18288" anchor="ctr">
                    <a:solidFill>
                      <a:srgbClr val="FFFFFF"/>
                    </a:solidFill>
                  </a:tcPr>
                </a:tc>
              </a:tr>
              <a:tr h="384048">
                <a:tc>
                  <a:txBody>
                    <a:bodyPr/>
                    <a:lstStyle/>
                    <a:p>
                      <a:pPr algn="ctr"/>
                      <a:r>
                        <a:rPr sz="1300">
                          <a:solidFill>
                            <a:srgbClr val="0B0B0B"/>
                          </a:solidFill>
                        </a:rPr>
                        <a:t>8</a:t>
                      </a:r>
                    </a:p>
                  </a:txBody>
                  <a:tcPr marL="54864" marR="54864" marT="18288" marB="18288" anchor="ctr">
                    <a:solidFill>
                      <a:srgbClr val="F2F1EC"/>
                    </a:solidFill>
                  </a:tcPr>
                </a:tc>
                <a:tc>
                  <a:txBody>
                    <a:bodyPr/>
                    <a:lstStyle/>
                    <a:p>
                      <a:pPr algn="ctr"/>
                      <a:r>
                        <a:rPr sz="1300">
                          <a:solidFill>
                            <a:srgbClr val="0B0B0B"/>
                          </a:solidFill>
                        </a:rPr>
                        <a:t>10.291</a:t>
                      </a:r>
                    </a:p>
                  </a:txBody>
                  <a:tcPr marL="54864" marR="54864" marT="18288" marB="18288" anchor="ctr">
                    <a:solidFill>
                      <a:srgbClr val="F2F1EC"/>
                    </a:solidFill>
                  </a:tcPr>
                </a:tc>
                <a:tc>
                  <a:txBody>
                    <a:bodyPr/>
                    <a:lstStyle/>
                    <a:p>
                      <a:pPr algn="ctr"/>
                      <a:r>
                        <a:rPr sz="1300">
                          <a:solidFill>
                            <a:srgbClr val="0B0B0B"/>
                          </a:solidFill>
                        </a:rPr>
                        <a:t>103.873</a:t>
                      </a:r>
                    </a:p>
                  </a:txBody>
                  <a:tcPr marL="54864" marR="54864" marT="18288" marB="18288" anchor="ctr">
                    <a:solidFill>
                      <a:srgbClr val="F2F1EC"/>
                    </a:solidFill>
                  </a:tcPr>
                </a:tc>
                <a:tc>
                  <a:txBody>
                    <a:bodyPr/>
                    <a:lstStyle/>
                    <a:p>
                      <a:pPr algn="ctr"/>
                      <a:r>
                        <a:rPr sz="1300">
                          <a:solidFill>
                            <a:srgbClr val="0B0B0B"/>
                          </a:solidFill>
                        </a:rPr>
                        <a:t>0.5263</a:t>
                      </a:r>
                    </a:p>
                  </a:txBody>
                  <a:tcPr marL="54864" marR="54864" marT="18288" marB="18288" anchor="ctr">
                    <a:solidFill>
                      <a:srgbClr val="F2F1EC"/>
                    </a:solidFill>
                  </a:tcPr>
                </a:tc>
                <a:tc>
                  <a:txBody>
                    <a:bodyPr/>
                    <a:lstStyle/>
                    <a:p>
                      <a:pPr algn="ctr"/>
                      <a:r>
                        <a:rPr sz="1300">
                          <a:solidFill>
                            <a:srgbClr val="0B0B0B"/>
                          </a:solidFill>
                        </a:rPr>
                        <a:t>1.1416</a:t>
                      </a:r>
                    </a:p>
                  </a:txBody>
                  <a:tcPr marL="54864" marR="54864" marT="18288" marB="18288" anchor="ctr">
                    <a:solidFill>
                      <a:srgbClr val="F2F1EC"/>
                    </a:solidFill>
                  </a:tcPr>
                </a:tc>
                <a:tc>
                  <a:txBody>
                    <a:bodyPr/>
                    <a:lstStyle/>
                    <a:p>
                      <a:pPr algn="ctr"/>
                      <a:r>
                        <a:rPr sz="1300">
                          <a:solidFill>
                            <a:srgbClr val="0B0B0B"/>
                          </a:solidFill>
                        </a:rPr>
                        <a:t>0.9099</a:t>
                      </a:r>
                    </a:p>
                  </a:txBody>
                  <a:tcPr marL="54864" marR="54864" marT="18288" marB="18288" anchor="ctr">
                    <a:solidFill>
                      <a:srgbClr val="F2F1EC"/>
                    </a:solidFill>
                  </a:tcPr>
                </a:tc>
              </a:tr>
            </a:tbl>
          </a:graphicData>
        </a:graphic>
      </p:graphicFrame>
      <p:sp>
        <p:nvSpPr>
          <p:cNvPr id="7" name="TextBox 6"/>
          <p:cNvSpPr txBox="1"/>
          <p:nvPr/>
        </p:nvSpPr>
        <p:spPr>
          <a:xfrm>
            <a:off x="548640" y="5623560"/>
            <a:ext cx="11064240" cy="731520"/>
          </a:xfrm>
          <a:prstGeom prst="rect">
            <a:avLst/>
          </a:prstGeom>
          <a:noFill/>
        </p:spPr>
        <p:txBody>
          <a:bodyPr wrap="square">
            <a:spAutoFit/>
          </a:bodyPr>
          <a:lstStyle/>
          <a:p>
            <a:r>
              <a:rPr sz="1300">
                <a:solidFill>
                  <a:srgbClr val="52514E"/>
                </a:solidFill>
              </a:rPr>
              <a:t>jG が増えるほど気相の係数（d_air, f_air）は減少し、液相の係数（d_water, f_water）は増加する ── 物理的に妥当な傾向</a:t>
            </a:r>
          </a:p>
        </p:txBody>
      </p:sp>
      <p:sp>
        <p:nvSpPr>
          <p:cNvPr id="8" name="TextBox 7"/>
          <p:cNvSpPr txBox="1"/>
          <p:nvPr/>
        </p:nvSpPr>
        <p:spPr>
          <a:xfrm>
            <a:off x="11521440" y="6492240"/>
            <a:ext cx="548640" cy="274320"/>
          </a:xfrm>
          <a:prstGeom prst="rect">
            <a:avLst/>
          </a:prstGeom>
          <a:noFill/>
        </p:spPr>
        <p:txBody>
          <a:bodyPr wrap="none">
            <a:spAutoFit/>
          </a:bodyPr>
          <a:lstStyle/>
          <a:p>
            <a:r>
              <a:rPr sz="1000">
                <a:solidFill>
                  <a:srgbClr val="52514E"/>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DEFINITION</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4. 圧力損失の定義と水頭の扱い</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64240" cy="457200"/>
          </a:xfrm>
          <a:prstGeom prst="rect">
            <a:avLst/>
          </a:prstGeom>
          <a:noFill/>
        </p:spPr>
        <p:txBody>
          <a:bodyPr wrap="none">
            <a:spAutoFit/>
          </a:bodyPr>
          <a:lstStyle/>
          <a:p>
            <a:r>
              <a:rPr sz="1500">
                <a:solidFill>
                  <a:srgbClr val="0B0B0B"/>
                </a:solidFill>
              </a:rPr>
              <a:t>3 手法で水頭（静水圧）の扱いが異なるため、比較にあたっては定義を揃える必要がある</a:t>
            </a:r>
          </a:p>
        </p:txBody>
      </p:sp>
      <p:graphicFrame>
        <p:nvGraphicFramePr>
          <p:cNvPr id="6" name="Table 5"/>
          <p:cNvGraphicFramePr>
            <a:graphicFrameLocks noGrp="1"/>
          </p:cNvGraphicFramePr>
          <p:nvPr/>
        </p:nvGraphicFramePr>
        <p:xfrm>
          <a:off x="548640" y="2377440"/>
          <a:ext cx="11064240" cy="2011680"/>
        </p:xfrm>
        <a:graphic>
          <a:graphicData uri="http://schemas.openxmlformats.org/drawingml/2006/table">
            <a:tbl>
              <a:tblPr firstRow="1" bandRow="1">
                <a:tableStyleId>{5C22544A-7EE6-4342-B048-85BDC9FD1C3A}</a:tableStyleId>
              </a:tblPr>
              <a:tblGrid>
                <a:gridCol w="1645920"/>
                <a:gridCol w="3017520"/>
                <a:gridCol w="4023360"/>
                <a:gridCol w="2377440"/>
              </a:tblGrid>
              <a:tr h="502920">
                <a:tc>
                  <a:txBody>
                    <a:bodyPr/>
                    <a:lstStyle/>
                    <a:p>
                      <a:pPr algn="ctr"/>
                      <a:r>
                        <a:rPr sz="1200" b="1">
                          <a:solidFill>
                            <a:srgbClr val="FFFFFF"/>
                          </a:solidFill>
                        </a:rPr>
                        <a:t>手法</a:t>
                      </a:r>
                    </a:p>
                  </a:txBody>
                  <a:tcPr marL="54864" marR="54864" marT="18288" marB="18288" anchor="ctr">
                    <a:solidFill>
                      <a:srgbClr val="2A78D6"/>
                    </a:solidFill>
                  </a:tcPr>
                </a:tc>
                <a:tc>
                  <a:txBody>
                    <a:bodyPr/>
                    <a:lstStyle/>
                    <a:p>
                      <a:pPr algn="ctr"/>
                      <a:r>
                        <a:rPr sz="1200" b="1">
                          <a:solidFill>
                            <a:srgbClr val="FFFFFF"/>
                          </a:solidFill>
                        </a:rPr>
                        <a:t>生の値</a:t>
                      </a:r>
                    </a:p>
                  </a:txBody>
                  <a:tcPr marL="54864" marR="54864" marT="18288" marB="18288" anchor="ctr">
                    <a:solidFill>
                      <a:srgbClr val="2A78D6"/>
                    </a:solidFill>
                  </a:tcPr>
                </a:tc>
                <a:tc>
                  <a:txBody>
                    <a:bodyPr/>
                    <a:lstStyle/>
                    <a:p>
                      <a:pPr algn="ctr"/>
                      <a:r>
                        <a:rPr sz="1200" b="1">
                          <a:solidFill>
                            <a:srgbClr val="FFFFFF"/>
                          </a:solidFill>
                        </a:rPr>
                        <a:t>水頭の扱い</a:t>
                      </a:r>
                    </a:p>
                  </a:txBody>
                  <a:tcPr marL="54864" marR="54864" marT="18288" marB="18288" anchor="ctr">
                    <a:solidFill>
                      <a:srgbClr val="2A78D6"/>
                    </a:solidFill>
                  </a:tcPr>
                </a:tc>
                <a:tc>
                  <a:txBody>
                    <a:bodyPr/>
                    <a:lstStyle/>
                    <a:p>
                      <a:pPr algn="ctr"/>
                      <a:r>
                        <a:rPr sz="1200" b="1">
                          <a:solidFill>
                            <a:srgbClr val="FFFFFF"/>
                          </a:solidFill>
                        </a:rPr>
                        <a:t>比較に用いた全圧勾配</a:t>
                      </a:r>
                    </a:p>
                  </a:txBody>
                  <a:tcPr marL="54864" marR="54864" marT="18288" marB="18288" anchor="ctr">
                    <a:solidFill>
                      <a:srgbClr val="2A78D6"/>
                    </a:solidFill>
                  </a:tcPr>
                </a:tc>
              </a:tr>
              <a:tr h="502920">
                <a:tc>
                  <a:txBody>
                    <a:bodyPr/>
                    <a:lstStyle/>
                    <a:p>
                      <a:pPr algn="ctr"/>
                      <a:r>
                        <a:rPr sz="1200">
                          <a:solidFill>
                            <a:srgbClr val="0B0B0B"/>
                          </a:solidFill>
                        </a:rPr>
                        <a:t>実験</a:t>
                      </a:r>
                    </a:p>
                  </a:txBody>
                  <a:tcPr marL="54864" marR="54864" marT="18288" marB="18288" anchor="ctr">
                    <a:solidFill>
                      <a:srgbClr val="FFFFFF"/>
                    </a:solidFill>
                  </a:tcPr>
                </a:tc>
                <a:tc>
                  <a:txBody>
                    <a:bodyPr/>
                    <a:lstStyle/>
                    <a:p>
                      <a:pPr algn="ctr"/>
                      <a:r>
                        <a:rPr sz="1200">
                          <a:solidFill>
                            <a:srgbClr val="0B0B0B"/>
                          </a:solidFill>
                        </a:rPr>
                        <a:t>差圧計 D [kPa]（0.1m間隔）</a:t>
                      </a:r>
                    </a:p>
                  </a:txBody>
                  <a:tcPr marL="54864" marR="54864" marT="18288" marB="18288" anchor="ctr">
                    <a:solidFill>
                      <a:srgbClr val="FFFFFF"/>
                    </a:solidFill>
                  </a:tcPr>
                </a:tc>
                <a:tc>
                  <a:txBody>
                    <a:bodyPr/>
                    <a:lstStyle/>
                    <a:p>
                      <a:pPr algn="ctr"/>
                      <a:r>
                        <a:rPr sz="1200">
                          <a:solidFill>
                            <a:srgbClr val="0B0B0B"/>
                          </a:solidFill>
                        </a:rPr>
                        <a:t>導圧管が水で満たされ相殺→摩擦のみ</a:t>
                      </a:r>
                    </a:p>
                  </a:txBody>
                  <a:tcPr marL="54864" marR="54864" marT="18288" marB="18288" anchor="ctr">
                    <a:solidFill>
                      <a:srgbClr val="FFFFFF"/>
                    </a:solidFill>
                  </a:tcPr>
                </a:tc>
                <a:tc>
                  <a:txBody>
                    <a:bodyPr/>
                    <a:lstStyle/>
                    <a:p>
                      <a:pPr algn="ctr"/>
                      <a:r>
                        <a:rPr sz="1200">
                          <a:solidFill>
                            <a:srgbClr val="0B0B0B"/>
                          </a:solidFill>
                        </a:rPr>
                        <a:t>D/0.1 + 9.8</a:t>
                      </a:r>
                    </a:p>
                  </a:txBody>
                  <a:tcPr marL="54864" marR="54864" marT="18288" marB="18288" anchor="ctr">
                    <a:solidFill>
                      <a:srgbClr val="FFFFFF"/>
                    </a:solidFill>
                  </a:tcPr>
                </a:tc>
              </a:tr>
              <a:tr h="502920">
                <a:tc>
                  <a:txBody>
                    <a:bodyPr/>
                    <a:lstStyle/>
                    <a:p>
                      <a:pPr algn="ctr"/>
                      <a:r>
                        <a:rPr sz="1200">
                          <a:solidFill>
                            <a:srgbClr val="0B0B0B"/>
                          </a:solidFill>
                        </a:rPr>
                        <a:t>Lipinski</a:t>
                      </a:r>
                    </a:p>
                  </a:txBody>
                  <a:tcPr marL="54864" marR="54864" marT="18288" marB="18288" anchor="ctr">
                    <a:solidFill>
                      <a:srgbClr val="F2F1EC"/>
                    </a:solidFill>
                  </a:tcPr>
                </a:tc>
                <a:tc>
                  <a:txBody>
                    <a:bodyPr/>
                    <a:lstStyle/>
                    <a:p>
                      <a:pPr algn="ctr"/>
                      <a:r>
                        <a:rPr sz="1200">
                          <a:solidFill>
                            <a:srgbClr val="0B0B0B"/>
                          </a:solidFill>
                        </a:rPr>
                        <a:t>各相の dP/dz</a:t>
                      </a:r>
                    </a:p>
                  </a:txBody>
                  <a:tcPr marL="54864" marR="54864" marT="18288" marB="18288" anchor="ctr">
                    <a:solidFill>
                      <a:srgbClr val="F2F1EC"/>
                    </a:solidFill>
                  </a:tcPr>
                </a:tc>
                <a:tc>
                  <a:txBody>
                    <a:bodyPr/>
                    <a:lstStyle/>
                    <a:p>
                      <a:pPr algn="ctr"/>
                      <a:r>
                        <a:rPr sz="1200">
                          <a:solidFill>
                            <a:srgbClr val="0B0B0B"/>
                          </a:solidFill>
                        </a:rPr>
                        <a:t>式に ρ·g を明示的に含む（全圧）</a:t>
                      </a:r>
                    </a:p>
                  </a:txBody>
                  <a:tcPr marL="54864" marR="54864" marT="18288" marB="18288" anchor="ctr">
                    <a:solidFill>
                      <a:srgbClr val="F2F1EC"/>
                    </a:solidFill>
                  </a:tcPr>
                </a:tc>
                <a:tc>
                  <a:txBody>
                    <a:bodyPr/>
                    <a:lstStyle/>
                    <a:p>
                      <a:pPr algn="ctr"/>
                      <a:r>
                        <a:rPr sz="1200">
                          <a:solidFill>
                            <a:srgbClr val="0B0B0B"/>
                          </a:solidFill>
                        </a:rPr>
                        <a:t>出力値そのまま</a:t>
                      </a:r>
                    </a:p>
                  </a:txBody>
                  <a:tcPr marL="54864" marR="54864" marT="18288" marB="18288" anchor="ctr">
                    <a:solidFill>
                      <a:srgbClr val="F2F1EC"/>
                    </a:solidFill>
                  </a:tcPr>
                </a:tc>
              </a:tr>
              <a:tr h="502920">
                <a:tc>
                  <a:txBody>
                    <a:bodyPr/>
                    <a:lstStyle/>
                    <a:p>
                      <a:pPr algn="ctr"/>
                      <a:r>
                        <a:rPr sz="1200">
                          <a:solidFill>
                            <a:srgbClr val="0B0B0B"/>
                          </a:solidFill>
                        </a:rPr>
                        <a:t>OpenFOAM</a:t>
                      </a:r>
                    </a:p>
                  </a:txBody>
                  <a:tcPr marL="54864" marR="54864" marT="18288" marB="18288" anchor="ctr">
                    <a:solidFill>
                      <a:srgbClr val="FFFFFF"/>
                    </a:solidFill>
                  </a:tcPr>
                </a:tc>
                <a:tc>
                  <a:txBody>
                    <a:bodyPr/>
                    <a:lstStyle/>
                    <a:p>
                      <a:pPr algn="ctr"/>
                      <a:r>
                        <a:rPr sz="1200">
                          <a:solidFill>
                            <a:srgbClr val="0B0B0B"/>
                          </a:solidFill>
                        </a:rPr>
                        <a:t>p_rgh（摩擦）と p（水頭込み）</a:t>
                      </a:r>
                    </a:p>
                  </a:txBody>
                  <a:tcPr marL="54864" marR="54864" marT="18288" marB="18288" anchor="ctr">
                    <a:solidFill>
                      <a:srgbClr val="FFFFFF"/>
                    </a:solidFill>
                  </a:tcPr>
                </a:tc>
                <a:tc>
                  <a:txBody>
                    <a:bodyPr/>
                    <a:lstStyle/>
                    <a:p>
                      <a:pPr algn="ctr"/>
                      <a:r>
                        <a:rPr sz="1200">
                          <a:solidFill>
                            <a:srgbClr val="0B0B0B"/>
                          </a:solidFill>
                        </a:rPr>
                        <a:t>p = p_rgh + ρ_mix·g·h として分離</a:t>
                      </a:r>
                    </a:p>
                  </a:txBody>
                  <a:tcPr marL="54864" marR="54864" marT="18288" marB="18288" anchor="ctr">
                    <a:solidFill>
                      <a:srgbClr val="FFFFFF"/>
                    </a:solidFill>
                  </a:tcPr>
                </a:tc>
                <a:tc>
                  <a:txBody>
                    <a:bodyPr/>
                    <a:lstStyle/>
                    <a:p>
                      <a:pPr algn="ctr"/>
                      <a:r>
                        <a:rPr sz="1200">
                          <a:solidFill>
                            <a:srgbClr val="0B0B0B"/>
                          </a:solidFill>
                        </a:rPr>
                        <a:t>p_rgh 範囲/0.7 + 9.8</a:t>
                      </a:r>
                    </a:p>
                  </a:txBody>
                  <a:tcPr marL="54864" marR="54864" marT="18288" marB="18288" anchor="ctr">
                    <a:solidFill>
                      <a:srgbClr val="FFFFFF"/>
                    </a:solidFill>
                  </a:tcPr>
                </a:tc>
              </a:tr>
            </a:tbl>
          </a:graphicData>
        </a:graphic>
      </p:graphicFrame>
      <p:sp>
        <p:nvSpPr>
          <p:cNvPr id="7" name="TextBox 6"/>
          <p:cNvSpPr txBox="1"/>
          <p:nvPr/>
        </p:nvSpPr>
        <p:spPr>
          <a:xfrm>
            <a:off x="548640" y="4572000"/>
            <a:ext cx="11064240" cy="1737360"/>
          </a:xfrm>
          <a:prstGeom prst="rect">
            <a:avLst/>
          </a:prstGeom>
          <a:noFill/>
        </p:spPr>
        <p:txBody>
          <a:bodyPr wrap="square">
            <a:spAutoFit/>
          </a:bodyPr>
          <a:lstStyle/>
          <a:p>
            <a:pPr>
              <a:lnSpc>
                <a:spcPct val="120000"/>
              </a:lnSpc>
              <a:spcAft>
                <a:spcPts val="600"/>
              </a:spcAft>
            </a:pPr>
            <a:r>
              <a:rPr sz="1300">
                <a:solidFill>
                  <a:srgbClr val="52514E"/>
                </a:solidFill>
              </a:rPr>
              <a:t>▪ Lipinski モデルでは重力項が相ごとに ρL·g と ρG·g として個別に入る。その差 9,780 Pa/m がボイド率を決める釣り合い条件そのもの</a:t>
            </a:r>
          </a:p>
          <a:p>
            <a:pPr>
              <a:lnSpc>
                <a:spcPct val="120000"/>
              </a:lnSpc>
              <a:spcAft>
                <a:spcPts val="600"/>
              </a:spcAft>
            </a:pPr>
            <a:r>
              <a:rPr sz="1300">
                <a:solidFill>
                  <a:srgbClr val="52514E"/>
                </a:solidFill>
              </a:rPr>
              <a:t>▪ 水は自重（9,792 Pa/m）を押し上げる分の圧力勾配が必要。空気は自重がほぼゼロ（11.8 Pa/m）のため摩擦だけで 9,780 Pa/m 余分に稼ぐ必要があり、α が小さい値まで下がる</a:t>
            </a:r>
          </a:p>
          <a:p>
            <a:pPr>
              <a:lnSpc>
                <a:spcPct val="120000"/>
              </a:lnSpc>
              <a:spcAft>
                <a:spcPts val="600"/>
              </a:spcAft>
            </a:pPr>
            <a:r>
              <a:rPr sz="1300">
                <a:solidFill>
                  <a:srgbClr val="52514E"/>
                </a:solidFill>
              </a:rPr>
              <a:t>▪ 水頭が占める割合は液相 14.1%、気相 0.02%。8 ケース通じて水頭分は一定（ρL·g=9.78 kPa/m）なので、水頭比率は case1 の 14.5% から case8 の 5.4% へ単調に低下</a:t>
            </a:r>
          </a:p>
        </p:txBody>
      </p:sp>
      <p:sp>
        <p:nvSpPr>
          <p:cNvPr id="8" name="TextBox 7"/>
          <p:cNvSpPr txBox="1"/>
          <p:nvPr/>
        </p:nvSpPr>
        <p:spPr>
          <a:xfrm>
            <a:off x="11521440" y="6492240"/>
            <a:ext cx="548640" cy="274320"/>
          </a:xfrm>
          <a:prstGeom prst="rect">
            <a:avLst/>
          </a:prstGeom>
          <a:noFill/>
        </p:spPr>
        <p:txBody>
          <a:bodyPr wrap="none">
            <a:spAutoFit/>
          </a:bodyPr>
          <a:lstStyle/>
          <a:p>
            <a:r>
              <a:rPr sz="1000">
                <a:solidFill>
                  <a:srgbClr val="52514E"/>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RESULTS</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5.1 結果：全圧勾配の比較</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ssure_drop.png"/>
          <p:cNvPicPr>
            <a:picLocks noChangeAspect="1"/>
          </p:cNvPicPr>
          <p:nvPr/>
        </p:nvPicPr>
        <p:blipFill>
          <a:blip r:embed="rId2"/>
          <a:stretch>
            <a:fillRect/>
          </a:stretch>
        </p:blipFill>
        <p:spPr>
          <a:xfrm>
            <a:off x="2743200" y="1691640"/>
            <a:ext cx="6805246" cy="3931920"/>
          </a:xfrm>
          <a:prstGeom prst="rect">
            <a:avLst/>
          </a:prstGeom>
        </p:spPr>
      </p:pic>
      <p:sp>
        <p:nvSpPr>
          <p:cNvPr id="6" name="TextBox 5"/>
          <p:cNvSpPr txBox="1"/>
          <p:nvPr/>
        </p:nvSpPr>
        <p:spPr>
          <a:xfrm>
            <a:off x="548640" y="5760720"/>
            <a:ext cx="11064240" cy="822960"/>
          </a:xfrm>
          <a:prstGeom prst="rect">
            <a:avLst/>
          </a:prstGeom>
          <a:noFill/>
        </p:spPr>
        <p:txBody>
          <a:bodyPr wrap="square">
            <a:spAutoFit/>
          </a:bodyPr>
          <a:lstStyle/>
          <a:p>
            <a:r>
              <a:rPr sz="1300">
                <a:solidFill>
                  <a:srgbClr val="52514E"/>
                </a:solidFill>
              </a:rPr>
              <a:t>Lipinski は case2〜8 で ±9% 以内（case5〜7 は ±5% 以内）で実験と一致。case1 のみ +28.6% と外れる。OpenFOAM は全ケースで過大評価し、誤差は jG とともに拡大する。</a:t>
            </a:r>
          </a:p>
        </p:txBody>
      </p:sp>
      <p:sp>
        <p:nvSpPr>
          <p:cNvPr id="7" name="TextBox 6"/>
          <p:cNvSpPr txBox="1"/>
          <p:nvPr/>
        </p:nvSpPr>
        <p:spPr>
          <a:xfrm>
            <a:off x="11521440" y="6492240"/>
            <a:ext cx="548640" cy="274320"/>
          </a:xfrm>
          <a:prstGeom prst="rect">
            <a:avLst/>
          </a:prstGeom>
          <a:noFill/>
        </p:spPr>
        <p:txBody>
          <a:bodyPr wrap="none">
            <a:spAutoFit/>
          </a:bodyPr>
          <a:lstStyle/>
          <a:p>
            <a:r>
              <a:rPr sz="1000">
                <a:solidFill>
                  <a:srgbClr val="52514E"/>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RESULTS</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5.1 全圧勾配の比較（詳細）</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828800"/>
          <a:ext cx="10789920" cy="4114800"/>
        </p:xfrm>
        <a:graphic>
          <a:graphicData uri="http://schemas.openxmlformats.org/drawingml/2006/table">
            <a:tbl>
              <a:tblPr firstRow="1" bandRow="1">
                <a:tableStyleId>{5C22544A-7EE6-4342-B048-85BDC9FD1C3A}</a:tableStyleId>
              </a:tblPr>
              <a:tblGrid>
                <a:gridCol w="1097280"/>
                <a:gridCol w="1371600"/>
                <a:gridCol w="1554480"/>
                <a:gridCol w="1371600"/>
                <a:gridCol w="1188720"/>
                <a:gridCol w="1554480"/>
                <a:gridCol w="1188720"/>
                <a:gridCol w="1463040"/>
              </a:tblGrid>
              <a:tr h="457200">
                <a:tc>
                  <a:txBody>
                    <a:bodyPr/>
                    <a:lstStyle/>
                    <a:p>
                      <a:pPr algn="ctr"/>
                      <a:r>
                        <a:rPr sz="1200" b="1">
                          <a:solidFill>
                            <a:srgbClr val="FFFFFF"/>
                          </a:solidFill>
                        </a:rPr>
                        <a:t>case</a:t>
                      </a:r>
                    </a:p>
                  </a:txBody>
                  <a:tcPr marL="54864" marR="54864" marT="18288" marB="18288" anchor="ctr">
                    <a:solidFill>
                      <a:srgbClr val="2A78D6"/>
                    </a:solidFill>
                  </a:tcPr>
                </a:tc>
                <a:tc>
                  <a:txBody>
                    <a:bodyPr/>
                    <a:lstStyle/>
                    <a:p>
                      <a:pPr algn="ctr"/>
                      <a:r>
                        <a:rPr sz="1200" b="1">
                          <a:solidFill>
                            <a:srgbClr val="FFFFFF"/>
                          </a:solidFill>
                        </a:rPr>
                        <a:t>jG [cm/s]</a:t>
                      </a:r>
                    </a:p>
                  </a:txBody>
                  <a:tcPr marL="54864" marR="54864" marT="18288" marB="18288" anchor="ctr">
                    <a:solidFill>
                      <a:srgbClr val="2A78D6"/>
                    </a:solidFill>
                  </a:tcPr>
                </a:tc>
                <a:tc>
                  <a:txBody>
                    <a:bodyPr/>
                    <a:lstStyle/>
                    <a:p>
                      <a:pPr algn="ctr"/>
                      <a:r>
                        <a:rPr sz="1200" b="1">
                          <a:solidFill>
                            <a:srgbClr val="FFFFFF"/>
                          </a:solidFill>
                        </a:rPr>
                        <a:t>実験 [kPa/m]</a:t>
                      </a:r>
                    </a:p>
                  </a:txBody>
                  <a:tcPr marL="54864" marR="54864" marT="18288" marB="18288" anchor="ctr">
                    <a:solidFill>
                      <a:srgbClr val="2A78D6"/>
                    </a:solidFill>
                  </a:tcPr>
                </a:tc>
                <a:tc>
                  <a:txBody>
                    <a:bodyPr/>
                    <a:lstStyle/>
                    <a:p>
                      <a:pPr algn="ctr"/>
                      <a:r>
                        <a:rPr sz="1200" b="1">
                          <a:solidFill>
                            <a:srgbClr val="FFFFFF"/>
                          </a:solidFill>
                        </a:rPr>
                        <a:t>Lipinski</a:t>
                      </a:r>
                    </a:p>
                  </a:txBody>
                  <a:tcPr marL="54864" marR="54864" marT="18288" marB="18288" anchor="ctr">
                    <a:solidFill>
                      <a:srgbClr val="2A78D6"/>
                    </a:solidFill>
                  </a:tcPr>
                </a:tc>
                <a:tc>
                  <a:txBody>
                    <a:bodyPr/>
                    <a:lstStyle/>
                    <a:p>
                      <a:pPr algn="ctr"/>
                      <a:r>
                        <a:rPr sz="1200" b="1">
                          <a:solidFill>
                            <a:srgbClr val="FFFFFF"/>
                          </a:solidFill>
                        </a:rPr>
                        <a:t>誤差</a:t>
                      </a:r>
                    </a:p>
                  </a:txBody>
                  <a:tcPr marL="54864" marR="54864" marT="18288" marB="18288" anchor="ctr">
                    <a:solidFill>
                      <a:srgbClr val="2A78D6"/>
                    </a:solidFill>
                  </a:tcPr>
                </a:tc>
                <a:tc>
                  <a:txBody>
                    <a:bodyPr/>
                    <a:lstStyle/>
                    <a:p>
                      <a:pPr algn="ctr"/>
                      <a:r>
                        <a:rPr sz="1200" b="1">
                          <a:solidFill>
                            <a:srgbClr val="FFFFFF"/>
                          </a:solidFill>
                        </a:rPr>
                        <a:t>OpenFOAM</a:t>
                      </a:r>
                    </a:p>
                  </a:txBody>
                  <a:tcPr marL="54864" marR="54864" marT="18288" marB="18288" anchor="ctr">
                    <a:solidFill>
                      <a:srgbClr val="2A78D6"/>
                    </a:solidFill>
                  </a:tcPr>
                </a:tc>
                <a:tc>
                  <a:txBody>
                    <a:bodyPr/>
                    <a:lstStyle/>
                    <a:p>
                      <a:pPr algn="ctr"/>
                      <a:r>
                        <a:rPr sz="1200" b="1">
                          <a:solidFill>
                            <a:srgbClr val="FFFFFF"/>
                          </a:solidFill>
                        </a:rPr>
                        <a:t>誤差</a:t>
                      </a:r>
                    </a:p>
                  </a:txBody>
                  <a:tcPr marL="54864" marR="54864" marT="18288" marB="18288" anchor="ctr">
                    <a:solidFill>
                      <a:srgbClr val="2A78D6"/>
                    </a:solidFill>
                  </a:tcPr>
                </a:tc>
                <a:tc>
                  <a:txBody>
                    <a:bodyPr/>
                    <a:lstStyle/>
                    <a:p>
                      <a:pPr algn="ctr"/>
                      <a:r>
                        <a:rPr sz="1200" b="1">
                          <a:solidFill>
                            <a:srgbClr val="FFFFFF"/>
                          </a:solidFill>
                        </a:rPr>
                        <a:t>CFD収束</a:t>
                      </a:r>
                    </a:p>
                  </a:txBody>
                  <a:tcPr marL="54864" marR="54864" marT="18288" marB="18288" anchor="ctr">
                    <a:solidFill>
                      <a:srgbClr val="2A78D6"/>
                    </a:solidFill>
                  </a:tcPr>
                </a:tc>
              </a:tr>
              <a:tr h="457200">
                <a:tc>
                  <a:txBody>
                    <a:bodyPr/>
                    <a:lstStyle/>
                    <a:p>
                      <a:pPr algn="ctr"/>
                      <a:r>
                        <a:rPr sz="1200">
                          <a:solidFill>
                            <a:srgbClr val="0B0B0B"/>
                          </a:solidFill>
                        </a:rPr>
                        <a:t>1</a:t>
                      </a:r>
                    </a:p>
                  </a:txBody>
                  <a:tcPr marL="54864" marR="54864" marT="18288" marB="18288" anchor="ctr">
                    <a:solidFill>
                      <a:srgbClr val="FFFFFF"/>
                    </a:solidFill>
                  </a:tcPr>
                </a:tc>
                <a:tc>
                  <a:txBody>
                    <a:bodyPr/>
                    <a:lstStyle/>
                    <a:p>
                      <a:pPr algn="ctr"/>
                      <a:r>
                        <a:rPr sz="1200">
                          <a:solidFill>
                            <a:srgbClr val="0B0B0B"/>
                          </a:solidFill>
                        </a:rPr>
                        <a:t>1.5</a:t>
                      </a:r>
                    </a:p>
                  </a:txBody>
                  <a:tcPr marL="54864" marR="54864" marT="18288" marB="18288" anchor="ctr">
                    <a:solidFill>
                      <a:srgbClr val="FFFFFF"/>
                    </a:solidFill>
                  </a:tcPr>
                </a:tc>
                <a:tc>
                  <a:txBody>
                    <a:bodyPr/>
                    <a:lstStyle/>
                    <a:p>
                      <a:pPr algn="ctr"/>
                      <a:r>
                        <a:rPr sz="1200">
                          <a:solidFill>
                            <a:srgbClr val="0B0B0B"/>
                          </a:solidFill>
                        </a:rPr>
                        <a:t>52.51</a:t>
                      </a:r>
                    </a:p>
                  </a:txBody>
                  <a:tcPr marL="54864" marR="54864" marT="18288" marB="18288" anchor="ctr">
                    <a:solidFill>
                      <a:srgbClr val="FFFFFF"/>
                    </a:solidFill>
                  </a:tcPr>
                </a:tc>
                <a:tc>
                  <a:txBody>
                    <a:bodyPr/>
                    <a:lstStyle/>
                    <a:p>
                      <a:pPr algn="ctr"/>
                      <a:r>
                        <a:rPr sz="1200">
                          <a:solidFill>
                            <a:srgbClr val="0B0B0B"/>
                          </a:solidFill>
                        </a:rPr>
                        <a:t>67.53</a:t>
                      </a:r>
                    </a:p>
                  </a:txBody>
                  <a:tcPr marL="54864" marR="54864" marT="18288" marB="18288" anchor="ctr">
                    <a:solidFill>
                      <a:srgbClr val="FFFFFF"/>
                    </a:solidFill>
                  </a:tcPr>
                </a:tc>
                <a:tc>
                  <a:txBody>
                    <a:bodyPr/>
                    <a:lstStyle/>
                    <a:p>
                      <a:pPr algn="ctr"/>
                      <a:r>
                        <a:rPr sz="1200">
                          <a:solidFill>
                            <a:srgbClr val="0B0B0B"/>
                          </a:solidFill>
                        </a:rPr>
                        <a:t>+28.6%</a:t>
                      </a:r>
                    </a:p>
                  </a:txBody>
                  <a:tcPr marL="54864" marR="54864" marT="18288" marB="18288" anchor="ctr">
                    <a:solidFill>
                      <a:srgbClr val="FFFFFF"/>
                    </a:solidFill>
                  </a:tcPr>
                </a:tc>
                <a:tc>
                  <a:txBody>
                    <a:bodyPr/>
                    <a:lstStyle/>
                    <a:p>
                      <a:pPr algn="ctr"/>
                      <a:r>
                        <a:rPr sz="1200">
                          <a:solidFill>
                            <a:srgbClr val="0B0B0B"/>
                          </a:solidFill>
                        </a:rPr>
                        <a:t>68.53</a:t>
                      </a:r>
                    </a:p>
                  </a:txBody>
                  <a:tcPr marL="54864" marR="54864" marT="18288" marB="18288" anchor="ctr">
                    <a:solidFill>
                      <a:srgbClr val="FFFFFF"/>
                    </a:solidFill>
                  </a:tcPr>
                </a:tc>
                <a:tc>
                  <a:txBody>
                    <a:bodyPr/>
                    <a:lstStyle/>
                    <a:p>
                      <a:pPr algn="ctr"/>
                      <a:r>
                        <a:rPr sz="1200">
                          <a:solidFill>
                            <a:srgbClr val="0B0B0B"/>
                          </a:solidFill>
                        </a:rPr>
                        <a:t>+30.5%</a:t>
                      </a:r>
                    </a:p>
                  </a:txBody>
                  <a:tcPr marL="54864" marR="54864" marT="18288" marB="18288" anchor="ctr">
                    <a:solidFill>
                      <a:srgbClr val="FFFFFF"/>
                    </a:solidFill>
                  </a:tcPr>
                </a:tc>
                <a:tc>
                  <a:txBody>
                    <a:bodyPr/>
                    <a:lstStyle/>
                    <a:p>
                      <a:pPr algn="ctr"/>
                      <a:r>
                        <a:rPr sz="1200">
                          <a:solidFill>
                            <a:srgbClr val="0B0B0B"/>
                          </a:solidFill>
                        </a:rPr>
                        <a:t>収束</a:t>
                      </a:r>
                    </a:p>
                  </a:txBody>
                  <a:tcPr marL="54864" marR="54864" marT="18288" marB="18288" anchor="ctr">
                    <a:solidFill>
                      <a:srgbClr val="FFFFFF"/>
                    </a:solidFill>
                  </a:tcPr>
                </a:tc>
              </a:tr>
              <a:tr h="457200">
                <a:tc>
                  <a:txBody>
                    <a:bodyPr/>
                    <a:lstStyle/>
                    <a:p>
                      <a:pPr algn="ctr"/>
                      <a:r>
                        <a:rPr sz="1200">
                          <a:solidFill>
                            <a:srgbClr val="0B0B0B"/>
                          </a:solidFill>
                        </a:rPr>
                        <a:t>2</a:t>
                      </a:r>
                    </a:p>
                  </a:txBody>
                  <a:tcPr marL="54864" marR="54864" marT="18288" marB="18288" anchor="ctr">
                    <a:solidFill>
                      <a:srgbClr val="F2F1EC"/>
                    </a:solidFill>
                  </a:tcPr>
                </a:tc>
                <a:tc>
                  <a:txBody>
                    <a:bodyPr/>
                    <a:lstStyle/>
                    <a:p>
                      <a:pPr algn="ctr"/>
                      <a:r>
                        <a:rPr sz="1200">
                          <a:solidFill>
                            <a:srgbClr val="0B0B0B"/>
                          </a:solidFill>
                        </a:rPr>
                        <a:t>7.2</a:t>
                      </a:r>
                    </a:p>
                  </a:txBody>
                  <a:tcPr marL="54864" marR="54864" marT="18288" marB="18288" anchor="ctr">
                    <a:solidFill>
                      <a:srgbClr val="F2F1EC"/>
                    </a:solidFill>
                  </a:tcPr>
                </a:tc>
                <a:tc>
                  <a:txBody>
                    <a:bodyPr/>
                    <a:lstStyle/>
                    <a:p>
                      <a:pPr algn="ctr"/>
                      <a:r>
                        <a:rPr sz="1200">
                          <a:solidFill>
                            <a:srgbClr val="0B0B0B"/>
                          </a:solidFill>
                        </a:rPr>
                        <a:t>72.32</a:t>
                      </a:r>
                    </a:p>
                  </a:txBody>
                  <a:tcPr marL="54864" marR="54864" marT="18288" marB="18288" anchor="ctr">
                    <a:solidFill>
                      <a:srgbClr val="F2F1EC"/>
                    </a:solidFill>
                  </a:tcPr>
                </a:tc>
                <a:tc>
                  <a:txBody>
                    <a:bodyPr/>
                    <a:lstStyle/>
                    <a:p>
                      <a:pPr algn="ctr"/>
                      <a:r>
                        <a:rPr sz="1200">
                          <a:solidFill>
                            <a:srgbClr val="0B0B0B"/>
                          </a:solidFill>
                        </a:rPr>
                        <a:t>73.53</a:t>
                      </a:r>
                    </a:p>
                  </a:txBody>
                  <a:tcPr marL="54864" marR="54864" marT="18288" marB="18288" anchor="ctr">
                    <a:solidFill>
                      <a:srgbClr val="F2F1EC"/>
                    </a:solidFill>
                  </a:tcPr>
                </a:tc>
                <a:tc>
                  <a:txBody>
                    <a:bodyPr/>
                    <a:lstStyle/>
                    <a:p>
                      <a:pPr algn="ctr"/>
                      <a:r>
                        <a:rPr sz="1200">
                          <a:solidFill>
                            <a:srgbClr val="0B0B0B"/>
                          </a:solidFill>
                        </a:rPr>
                        <a:t>+1.7%</a:t>
                      </a:r>
                    </a:p>
                  </a:txBody>
                  <a:tcPr marL="54864" marR="54864" marT="18288" marB="18288" anchor="ctr">
                    <a:solidFill>
                      <a:srgbClr val="F2F1EC"/>
                    </a:solidFill>
                  </a:tcPr>
                </a:tc>
                <a:tc>
                  <a:txBody>
                    <a:bodyPr/>
                    <a:lstStyle/>
                    <a:p>
                      <a:pPr algn="ctr"/>
                      <a:r>
                        <a:rPr sz="1200">
                          <a:solidFill>
                            <a:srgbClr val="0B0B0B"/>
                          </a:solidFill>
                        </a:rPr>
                        <a:t>85.99</a:t>
                      </a:r>
                    </a:p>
                  </a:txBody>
                  <a:tcPr marL="54864" marR="54864" marT="18288" marB="18288" anchor="ctr">
                    <a:solidFill>
                      <a:srgbClr val="F2F1EC"/>
                    </a:solidFill>
                  </a:tcPr>
                </a:tc>
                <a:tc>
                  <a:txBody>
                    <a:bodyPr/>
                    <a:lstStyle/>
                    <a:p>
                      <a:pPr algn="ctr"/>
                      <a:r>
                        <a:rPr sz="1200">
                          <a:solidFill>
                            <a:srgbClr val="0B0B0B"/>
                          </a:solidFill>
                        </a:rPr>
                        <a:t>+18.9%</a:t>
                      </a:r>
                    </a:p>
                  </a:txBody>
                  <a:tcPr marL="54864" marR="54864" marT="18288" marB="18288" anchor="ctr">
                    <a:solidFill>
                      <a:srgbClr val="F2F1EC"/>
                    </a:solidFill>
                  </a:tcPr>
                </a:tc>
                <a:tc>
                  <a:txBody>
                    <a:bodyPr/>
                    <a:lstStyle/>
                    <a:p>
                      <a:pPr algn="ctr"/>
                      <a:r>
                        <a:rPr sz="1200">
                          <a:solidFill>
                            <a:srgbClr val="0B0B0B"/>
                          </a:solidFill>
                        </a:rPr>
                        <a:t>未収束</a:t>
                      </a:r>
                    </a:p>
                  </a:txBody>
                  <a:tcPr marL="54864" marR="54864" marT="18288" marB="18288" anchor="ctr">
                    <a:solidFill>
                      <a:srgbClr val="F2F1EC"/>
                    </a:solidFill>
                  </a:tcPr>
                </a:tc>
              </a:tr>
              <a:tr h="457200">
                <a:tc>
                  <a:txBody>
                    <a:bodyPr/>
                    <a:lstStyle/>
                    <a:p>
                      <a:pPr algn="ctr"/>
                      <a:r>
                        <a:rPr sz="1200">
                          <a:solidFill>
                            <a:srgbClr val="0B0B0B"/>
                          </a:solidFill>
                        </a:rPr>
                        <a:t>3</a:t>
                      </a:r>
                    </a:p>
                  </a:txBody>
                  <a:tcPr marL="54864" marR="54864" marT="18288" marB="18288" anchor="ctr">
                    <a:solidFill>
                      <a:srgbClr val="FFFFFF"/>
                    </a:solidFill>
                  </a:tcPr>
                </a:tc>
                <a:tc>
                  <a:txBody>
                    <a:bodyPr/>
                    <a:lstStyle/>
                    <a:p>
                      <a:pPr algn="ctr"/>
                      <a:r>
                        <a:rPr sz="1200">
                          <a:solidFill>
                            <a:srgbClr val="0B0B0B"/>
                          </a:solidFill>
                        </a:rPr>
                        <a:t>16.6</a:t>
                      </a:r>
                    </a:p>
                  </a:txBody>
                  <a:tcPr marL="54864" marR="54864" marT="18288" marB="18288" anchor="ctr">
                    <a:solidFill>
                      <a:srgbClr val="FFFFFF"/>
                    </a:solidFill>
                  </a:tcPr>
                </a:tc>
                <a:tc>
                  <a:txBody>
                    <a:bodyPr/>
                    <a:lstStyle/>
                    <a:p>
                      <a:pPr algn="ctr"/>
                      <a:r>
                        <a:rPr sz="1200">
                          <a:solidFill>
                            <a:srgbClr val="0B0B0B"/>
                          </a:solidFill>
                        </a:rPr>
                        <a:t>97.79</a:t>
                      </a:r>
                    </a:p>
                  </a:txBody>
                  <a:tcPr marL="54864" marR="54864" marT="18288" marB="18288" anchor="ctr">
                    <a:solidFill>
                      <a:srgbClr val="FFFFFF"/>
                    </a:solidFill>
                  </a:tcPr>
                </a:tc>
                <a:tc>
                  <a:txBody>
                    <a:bodyPr/>
                    <a:lstStyle/>
                    <a:p>
                      <a:pPr algn="ctr"/>
                      <a:r>
                        <a:rPr sz="1200">
                          <a:solidFill>
                            <a:srgbClr val="0B0B0B"/>
                          </a:solidFill>
                        </a:rPr>
                        <a:t>89.03</a:t>
                      </a:r>
                    </a:p>
                  </a:txBody>
                  <a:tcPr marL="54864" marR="54864" marT="18288" marB="18288" anchor="ctr">
                    <a:solidFill>
                      <a:srgbClr val="FFFFFF"/>
                    </a:solidFill>
                  </a:tcPr>
                </a:tc>
                <a:tc>
                  <a:txBody>
                    <a:bodyPr/>
                    <a:lstStyle/>
                    <a:p>
                      <a:pPr algn="ctr"/>
                      <a:r>
                        <a:rPr sz="1200">
                          <a:solidFill>
                            <a:srgbClr val="0B0B0B"/>
                          </a:solidFill>
                        </a:rPr>
                        <a:t>−9.0%</a:t>
                      </a:r>
                    </a:p>
                  </a:txBody>
                  <a:tcPr marL="54864" marR="54864" marT="18288" marB="18288" anchor="ctr">
                    <a:solidFill>
                      <a:srgbClr val="FFFFFF"/>
                    </a:solidFill>
                  </a:tcPr>
                </a:tc>
                <a:tc>
                  <a:txBody>
                    <a:bodyPr/>
                    <a:lstStyle/>
                    <a:p>
                      <a:pPr algn="ctr"/>
                      <a:r>
                        <a:rPr sz="1200">
                          <a:solidFill>
                            <a:srgbClr val="0B0B0B"/>
                          </a:solidFill>
                        </a:rPr>
                        <a:t>119.70</a:t>
                      </a:r>
                    </a:p>
                  </a:txBody>
                  <a:tcPr marL="54864" marR="54864" marT="18288" marB="18288" anchor="ctr">
                    <a:solidFill>
                      <a:srgbClr val="FFFFFF"/>
                    </a:solidFill>
                  </a:tcPr>
                </a:tc>
                <a:tc>
                  <a:txBody>
                    <a:bodyPr/>
                    <a:lstStyle/>
                    <a:p>
                      <a:pPr algn="ctr"/>
                      <a:r>
                        <a:rPr sz="1200">
                          <a:solidFill>
                            <a:srgbClr val="0B0B0B"/>
                          </a:solidFill>
                        </a:rPr>
                        <a:t>+22.4%</a:t>
                      </a:r>
                    </a:p>
                  </a:txBody>
                  <a:tcPr marL="54864" marR="54864" marT="18288" marB="18288" anchor="ctr">
                    <a:solidFill>
                      <a:srgbClr val="FFFFFF"/>
                    </a:solidFill>
                  </a:tcPr>
                </a:tc>
                <a:tc>
                  <a:txBody>
                    <a:bodyPr/>
                    <a:lstStyle/>
                    <a:p>
                      <a:pPr algn="ctr"/>
                      <a:r>
                        <a:rPr sz="1200">
                          <a:solidFill>
                            <a:srgbClr val="0B0B0B"/>
                          </a:solidFill>
                        </a:rPr>
                        <a:t>ほぼ収束</a:t>
                      </a:r>
                    </a:p>
                  </a:txBody>
                  <a:tcPr marL="54864" marR="54864" marT="18288" marB="18288" anchor="ctr">
                    <a:solidFill>
                      <a:srgbClr val="FFFFFF"/>
                    </a:solidFill>
                  </a:tcPr>
                </a:tc>
              </a:tr>
              <a:tr h="457200">
                <a:tc>
                  <a:txBody>
                    <a:bodyPr/>
                    <a:lstStyle/>
                    <a:p>
                      <a:pPr algn="ctr"/>
                      <a:r>
                        <a:rPr sz="1200">
                          <a:solidFill>
                            <a:srgbClr val="0B0B0B"/>
                          </a:solidFill>
                        </a:rPr>
                        <a:t>4</a:t>
                      </a:r>
                    </a:p>
                  </a:txBody>
                  <a:tcPr marL="54864" marR="54864" marT="18288" marB="18288" anchor="ctr">
                    <a:solidFill>
                      <a:srgbClr val="F2F1EC"/>
                    </a:solidFill>
                  </a:tcPr>
                </a:tc>
                <a:tc>
                  <a:txBody>
                    <a:bodyPr/>
                    <a:lstStyle/>
                    <a:p>
                      <a:pPr algn="ctr"/>
                      <a:r>
                        <a:rPr sz="1200">
                          <a:solidFill>
                            <a:srgbClr val="0B0B0B"/>
                          </a:solidFill>
                        </a:rPr>
                        <a:t>31.8</a:t>
                      </a:r>
                    </a:p>
                  </a:txBody>
                  <a:tcPr marL="54864" marR="54864" marT="18288" marB="18288" anchor="ctr">
                    <a:solidFill>
                      <a:srgbClr val="F2F1EC"/>
                    </a:solidFill>
                  </a:tcPr>
                </a:tc>
                <a:tc>
                  <a:txBody>
                    <a:bodyPr/>
                    <a:lstStyle/>
                    <a:p>
                      <a:pPr algn="ctr"/>
                      <a:r>
                        <a:rPr sz="1200">
                          <a:solidFill>
                            <a:srgbClr val="0B0B0B"/>
                          </a:solidFill>
                        </a:rPr>
                        <a:t>111.62</a:t>
                      </a:r>
                    </a:p>
                  </a:txBody>
                  <a:tcPr marL="54864" marR="54864" marT="18288" marB="18288" anchor="ctr">
                    <a:solidFill>
                      <a:srgbClr val="F2F1EC"/>
                    </a:solidFill>
                  </a:tcPr>
                </a:tc>
                <a:tc>
                  <a:txBody>
                    <a:bodyPr/>
                    <a:lstStyle/>
                    <a:p>
                      <a:pPr algn="ctr"/>
                      <a:r>
                        <a:rPr sz="1200">
                          <a:solidFill>
                            <a:srgbClr val="0B0B0B"/>
                          </a:solidFill>
                        </a:rPr>
                        <a:t>102.18</a:t>
                      </a:r>
                    </a:p>
                  </a:txBody>
                  <a:tcPr marL="54864" marR="54864" marT="18288" marB="18288" anchor="ctr">
                    <a:solidFill>
                      <a:srgbClr val="F2F1EC"/>
                    </a:solidFill>
                  </a:tcPr>
                </a:tc>
                <a:tc>
                  <a:txBody>
                    <a:bodyPr/>
                    <a:lstStyle/>
                    <a:p>
                      <a:pPr algn="ctr"/>
                      <a:r>
                        <a:rPr sz="1200">
                          <a:solidFill>
                            <a:srgbClr val="0B0B0B"/>
                          </a:solidFill>
                        </a:rPr>
                        <a:t>−8.5%</a:t>
                      </a:r>
                    </a:p>
                  </a:txBody>
                  <a:tcPr marL="54864" marR="54864" marT="18288" marB="18288" anchor="ctr">
                    <a:solidFill>
                      <a:srgbClr val="F2F1EC"/>
                    </a:solidFill>
                  </a:tcPr>
                </a:tc>
                <a:tc>
                  <a:txBody>
                    <a:bodyPr/>
                    <a:lstStyle/>
                    <a:p>
                      <a:pPr algn="ctr"/>
                      <a:r>
                        <a:rPr sz="1200">
                          <a:solidFill>
                            <a:srgbClr val="0B0B0B"/>
                          </a:solidFill>
                        </a:rPr>
                        <a:t>150.43</a:t>
                      </a:r>
                    </a:p>
                  </a:txBody>
                  <a:tcPr marL="54864" marR="54864" marT="18288" marB="18288" anchor="ctr">
                    <a:solidFill>
                      <a:srgbClr val="F2F1EC"/>
                    </a:solidFill>
                  </a:tcPr>
                </a:tc>
                <a:tc>
                  <a:txBody>
                    <a:bodyPr/>
                    <a:lstStyle/>
                    <a:p>
                      <a:pPr algn="ctr"/>
                      <a:r>
                        <a:rPr sz="1200">
                          <a:solidFill>
                            <a:srgbClr val="0B0B0B"/>
                          </a:solidFill>
                        </a:rPr>
                        <a:t>+34.8%</a:t>
                      </a:r>
                    </a:p>
                  </a:txBody>
                  <a:tcPr marL="54864" marR="54864" marT="18288" marB="18288" anchor="ctr">
                    <a:solidFill>
                      <a:srgbClr val="F2F1EC"/>
                    </a:solidFill>
                  </a:tcPr>
                </a:tc>
                <a:tc>
                  <a:txBody>
                    <a:bodyPr/>
                    <a:lstStyle/>
                    <a:p>
                      <a:pPr algn="ctr"/>
                      <a:r>
                        <a:rPr sz="1200">
                          <a:solidFill>
                            <a:srgbClr val="0B0B0B"/>
                          </a:solidFill>
                        </a:rPr>
                        <a:t>ほぼ収束</a:t>
                      </a:r>
                    </a:p>
                  </a:txBody>
                  <a:tcPr marL="54864" marR="54864" marT="18288" marB="18288" anchor="ctr">
                    <a:solidFill>
                      <a:srgbClr val="F2F1EC"/>
                    </a:solidFill>
                  </a:tcPr>
                </a:tc>
              </a:tr>
              <a:tr h="457200">
                <a:tc>
                  <a:txBody>
                    <a:bodyPr/>
                    <a:lstStyle/>
                    <a:p>
                      <a:pPr algn="ctr"/>
                      <a:r>
                        <a:rPr sz="1200">
                          <a:solidFill>
                            <a:srgbClr val="0B0B0B"/>
                          </a:solidFill>
                        </a:rPr>
                        <a:t>5</a:t>
                      </a:r>
                    </a:p>
                  </a:txBody>
                  <a:tcPr marL="54864" marR="54864" marT="18288" marB="18288" anchor="ctr">
                    <a:solidFill>
                      <a:srgbClr val="FFFFFF"/>
                    </a:solidFill>
                  </a:tcPr>
                </a:tc>
                <a:tc>
                  <a:txBody>
                    <a:bodyPr/>
                    <a:lstStyle/>
                    <a:p>
                      <a:pPr algn="ctr"/>
                      <a:r>
                        <a:rPr sz="1200">
                          <a:solidFill>
                            <a:srgbClr val="0B0B0B"/>
                          </a:solidFill>
                        </a:rPr>
                        <a:t>47.2</a:t>
                      </a:r>
                    </a:p>
                  </a:txBody>
                  <a:tcPr marL="54864" marR="54864" marT="18288" marB="18288" anchor="ctr">
                    <a:solidFill>
                      <a:srgbClr val="FFFFFF"/>
                    </a:solidFill>
                  </a:tcPr>
                </a:tc>
                <a:tc>
                  <a:txBody>
                    <a:bodyPr/>
                    <a:lstStyle/>
                    <a:p>
                      <a:pPr algn="ctr"/>
                      <a:r>
                        <a:rPr sz="1200">
                          <a:solidFill>
                            <a:srgbClr val="0B0B0B"/>
                          </a:solidFill>
                        </a:rPr>
                        <a:t>120.91</a:t>
                      </a:r>
                    </a:p>
                  </a:txBody>
                  <a:tcPr marL="54864" marR="54864" marT="18288" marB="18288" anchor="ctr">
                    <a:solidFill>
                      <a:srgbClr val="FFFFFF"/>
                    </a:solidFill>
                  </a:tcPr>
                </a:tc>
                <a:tc>
                  <a:txBody>
                    <a:bodyPr/>
                    <a:lstStyle/>
                    <a:p>
                      <a:pPr algn="ctr"/>
                      <a:r>
                        <a:rPr sz="1200">
                          <a:solidFill>
                            <a:srgbClr val="0B0B0B"/>
                          </a:solidFill>
                        </a:rPr>
                        <a:t>115.91</a:t>
                      </a:r>
                    </a:p>
                  </a:txBody>
                  <a:tcPr marL="54864" marR="54864" marT="18288" marB="18288" anchor="ctr">
                    <a:solidFill>
                      <a:srgbClr val="FFFFFF"/>
                    </a:solidFill>
                  </a:tcPr>
                </a:tc>
                <a:tc>
                  <a:txBody>
                    <a:bodyPr/>
                    <a:lstStyle/>
                    <a:p>
                      <a:pPr algn="ctr"/>
                      <a:r>
                        <a:rPr sz="1200">
                          <a:solidFill>
                            <a:srgbClr val="0B0B0B"/>
                          </a:solidFill>
                        </a:rPr>
                        <a:t>−4.1%</a:t>
                      </a:r>
                    </a:p>
                  </a:txBody>
                  <a:tcPr marL="54864" marR="54864" marT="18288" marB="18288" anchor="ctr">
                    <a:solidFill>
                      <a:srgbClr val="FFFFFF"/>
                    </a:solidFill>
                  </a:tcPr>
                </a:tc>
                <a:tc>
                  <a:txBody>
                    <a:bodyPr/>
                    <a:lstStyle/>
                    <a:p>
                      <a:pPr algn="ctr"/>
                      <a:r>
                        <a:rPr sz="1200">
                          <a:solidFill>
                            <a:srgbClr val="0B0B0B"/>
                          </a:solidFill>
                        </a:rPr>
                        <a:t>—</a:t>
                      </a:r>
                    </a:p>
                  </a:txBody>
                  <a:tcPr marL="54864" marR="54864" marT="18288" marB="18288" anchor="ctr">
                    <a:solidFill>
                      <a:srgbClr val="FFFFFF"/>
                    </a:solidFill>
                  </a:tcPr>
                </a:tc>
                <a:tc>
                  <a:txBody>
                    <a:bodyPr/>
                    <a:lstStyle/>
                    <a:p>
                      <a:pPr algn="ctr"/>
                      <a:r>
                        <a:rPr sz="1200">
                          <a:solidFill>
                            <a:srgbClr val="0B0B0B"/>
                          </a:solidFill>
                        </a:rPr>
                        <a:t>—</a:t>
                      </a:r>
                    </a:p>
                  </a:txBody>
                  <a:tcPr marL="54864" marR="54864" marT="18288" marB="18288" anchor="ctr">
                    <a:solidFill>
                      <a:srgbClr val="FFFFFF"/>
                    </a:solidFill>
                  </a:tcPr>
                </a:tc>
                <a:tc>
                  <a:txBody>
                    <a:bodyPr/>
                    <a:lstStyle/>
                    <a:p>
                      <a:pPr algn="ctr"/>
                      <a:r>
                        <a:rPr sz="1200">
                          <a:solidFill>
                            <a:srgbClr val="0B0B0B"/>
                          </a:solidFill>
                        </a:rPr>
                        <a:t>計算なし</a:t>
                      </a:r>
                    </a:p>
                  </a:txBody>
                  <a:tcPr marL="54864" marR="54864" marT="18288" marB="18288" anchor="ctr">
                    <a:solidFill>
                      <a:srgbClr val="FFFFFF"/>
                    </a:solidFill>
                  </a:tcPr>
                </a:tc>
              </a:tr>
              <a:tr h="457200">
                <a:tc>
                  <a:txBody>
                    <a:bodyPr/>
                    <a:lstStyle/>
                    <a:p>
                      <a:pPr algn="ctr"/>
                      <a:r>
                        <a:rPr sz="1200">
                          <a:solidFill>
                            <a:srgbClr val="0B0B0B"/>
                          </a:solidFill>
                        </a:rPr>
                        <a:t>6</a:t>
                      </a:r>
                    </a:p>
                  </a:txBody>
                  <a:tcPr marL="54864" marR="54864" marT="18288" marB="18288" anchor="ctr">
                    <a:solidFill>
                      <a:srgbClr val="F2F1EC"/>
                    </a:solidFill>
                  </a:tcPr>
                </a:tc>
                <a:tc>
                  <a:txBody>
                    <a:bodyPr/>
                    <a:lstStyle/>
                    <a:p>
                      <a:pPr algn="ctr"/>
                      <a:r>
                        <a:rPr sz="1200">
                          <a:solidFill>
                            <a:srgbClr val="0B0B0B"/>
                          </a:solidFill>
                        </a:rPr>
                        <a:t>61.1</a:t>
                      </a:r>
                    </a:p>
                  </a:txBody>
                  <a:tcPr marL="54864" marR="54864" marT="18288" marB="18288" anchor="ctr">
                    <a:solidFill>
                      <a:srgbClr val="F2F1EC"/>
                    </a:solidFill>
                  </a:tcPr>
                </a:tc>
                <a:tc>
                  <a:txBody>
                    <a:bodyPr/>
                    <a:lstStyle/>
                    <a:p>
                      <a:pPr algn="ctr"/>
                      <a:r>
                        <a:rPr sz="1200">
                          <a:solidFill>
                            <a:srgbClr val="0B0B0B"/>
                          </a:solidFill>
                        </a:rPr>
                        <a:t>135.88</a:t>
                      </a:r>
                    </a:p>
                  </a:txBody>
                  <a:tcPr marL="54864" marR="54864" marT="18288" marB="18288" anchor="ctr">
                    <a:solidFill>
                      <a:srgbClr val="F2F1EC"/>
                    </a:solidFill>
                  </a:tcPr>
                </a:tc>
                <a:tc>
                  <a:txBody>
                    <a:bodyPr/>
                    <a:lstStyle/>
                    <a:p>
                      <a:pPr algn="ctr"/>
                      <a:r>
                        <a:rPr sz="1200">
                          <a:solidFill>
                            <a:srgbClr val="0B0B0B"/>
                          </a:solidFill>
                        </a:rPr>
                        <a:t>132.88</a:t>
                      </a:r>
                    </a:p>
                  </a:txBody>
                  <a:tcPr marL="54864" marR="54864" marT="18288" marB="18288" anchor="ctr">
                    <a:solidFill>
                      <a:srgbClr val="F2F1EC"/>
                    </a:solidFill>
                  </a:tcPr>
                </a:tc>
                <a:tc>
                  <a:txBody>
                    <a:bodyPr/>
                    <a:lstStyle/>
                    <a:p>
                      <a:pPr algn="ctr"/>
                      <a:r>
                        <a:rPr sz="1200">
                          <a:solidFill>
                            <a:srgbClr val="0B0B0B"/>
                          </a:solidFill>
                        </a:rPr>
                        <a:t>−2.2%</a:t>
                      </a:r>
                    </a:p>
                  </a:txBody>
                  <a:tcPr marL="54864" marR="54864" marT="18288" marB="18288" anchor="ctr">
                    <a:solidFill>
                      <a:srgbClr val="F2F1EC"/>
                    </a:solidFill>
                  </a:tcPr>
                </a:tc>
                <a:tc>
                  <a:txBody>
                    <a:bodyPr/>
                    <a:lstStyle/>
                    <a:p>
                      <a:pPr algn="ctr"/>
                      <a:r>
                        <a:rPr sz="1200">
                          <a:solidFill>
                            <a:srgbClr val="0B0B0B"/>
                          </a:solidFill>
                        </a:rPr>
                        <a:t>—</a:t>
                      </a:r>
                    </a:p>
                  </a:txBody>
                  <a:tcPr marL="54864" marR="54864" marT="18288" marB="18288" anchor="ctr">
                    <a:solidFill>
                      <a:srgbClr val="F2F1EC"/>
                    </a:solidFill>
                  </a:tcPr>
                </a:tc>
                <a:tc>
                  <a:txBody>
                    <a:bodyPr/>
                    <a:lstStyle/>
                    <a:p>
                      <a:pPr algn="ctr"/>
                      <a:r>
                        <a:rPr sz="1200">
                          <a:solidFill>
                            <a:srgbClr val="0B0B0B"/>
                          </a:solidFill>
                        </a:rPr>
                        <a:t>—</a:t>
                      </a:r>
                    </a:p>
                  </a:txBody>
                  <a:tcPr marL="54864" marR="54864" marT="18288" marB="18288" anchor="ctr">
                    <a:solidFill>
                      <a:srgbClr val="F2F1EC"/>
                    </a:solidFill>
                  </a:tcPr>
                </a:tc>
                <a:tc>
                  <a:txBody>
                    <a:bodyPr/>
                    <a:lstStyle/>
                    <a:p>
                      <a:pPr algn="ctr"/>
                      <a:r>
                        <a:rPr sz="1200">
                          <a:solidFill>
                            <a:srgbClr val="0B0B0B"/>
                          </a:solidFill>
                        </a:rPr>
                        <a:t>計算なし</a:t>
                      </a:r>
                    </a:p>
                  </a:txBody>
                  <a:tcPr marL="54864" marR="54864" marT="18288" marB="18288" anchor="ctr">
                    <a:solidFill>
                      <a:srgbClr val="F2F1EC"/>
                    </a:solidFill>
                  </a:tcPr>
                </a:tc>
              </a:tr>
              <a:tr h="457200">
                <a:tc>
                  <a:txBody>
                    <a:bodyPr/>
                    <a:lstStyle/>
                    <a:p>
                      <a:pPr algn="ctr"/>
                      <a:r>
                        <a:rPr sz="1200">
                          <a:solidFill>
                            <a:srgbClr val="0B0B0B"/>
                          </a:solidFill>
                        </a:rPr>
                        <a:t>7</a:t>
                      </a:r>
                    </a:p>
                  </a:txBody>
                  <a:tcPr marL="54864" marR="54864" marT="18288" marB="18288" anchor="ctr">
                    <a:solidFill>
                      <a:srgbClr val="FFFFFF"/>
                    </a:solidFill>
                  </a:tcPr>
                </a:tc>
                <a:tc>
                  <a:txBody>
                    <a:bodyPr/>
                    <a:lstStyle/>
                    <a:p>
                      <a:pPr algn="ctr"/>
                      <a:r>
                        <a:rPr sz="1200">
                          <a:solidFill>
                            <a:srgbClr val="0B0B0B"/>
                          </a:solidFill>
                        </a:rPr>
                        <a:t>74.1</a:t>
                      </a:r>
                    </a:p>
                  </a:txBody>
                  <a:tcPr marL="54864" marR="54864" marT="18288" marB="18288" anchor="ctr">
                    <a:solidFill>
                      <a:srgbClr val="FFFFFF"/>
                    </a:solidFill>
                  </a:tcPr>
                </a:tc>
                <a:tc>
                  <a:txBody>
                    <a:bodyPr/>
                    <a:lstStyle/>
                    <a:p>
                      <a:pPr algn="ctr"/>
                      <a:r>
                        <a:rPr sz="1200">
                          <a:solidFill>
                            <a:srgbClr val="0B0B0B"/>
                          </a:solidFill>
                        </a:rPr>
                        <a:t>140.69</a:t>
                      </a:r>
                    </a:p>
                  </a:txBody>
                  <a:tcPr marL="54864" marR="54864" marT="18288" marB="18288" anchor="ctr">
                    <a:solidFill>
                      <a:srgbClr val="FFFFFF"/>
                    </a:solidFill>
                  </a:tcPr>
                </a:tc>
                <a:tc>
                  <a:txBody>
                    <a:bodyPr/>
                    <a:lstStyle/>
                    <a:p>
                      <a:pPr algn="ctr"/>
                      <a:r>
                        <a:rPr sz="1200">
                          <a:solidFill>
                            <a:srgbClr val="0B0B0B"/>
                          </a:solidFill>
                        </a:rPr>
                        <a:t>143.16</a:t>
                      </a:r>
                    </a:p>
                  </a:txBody>
                  <a:tcPr marL="54864" marR="54864" marT="18288" marB="18288" anchor="ctr">
                    <a:solidFill>
                      <a:srgbClr val="FFFFFF"/>
                    </a:solidFill>
                  </a:tcPr>
                </a:tc>
                <a:tc>
                  <a:txBody>
                    <a:bodyPr/>
                    <a:lstStyle/>
                    <a:p>
                      <a:pPr algn="ctr"/>
                      <a:r>
                        <a:rPr sz="1200">
                          <a:solidFill>
                            <a:srgbClr val="0B0B0B"/>
                          </a:solidFill>
                        </a:rPr>
                        <a:t>+1.8%</a:t>
                      </a:r>
                    </a:p>
                  </a:txBody>
                  <a:tcPr marL="54864" marR="54864" marT="18288" marB="18288" anchor="ctr">
                    <a:solidFill>
                      <a:srgbClr val="FFFFFF"/>
                    </a:solidFill>
                  </a:tcPr>
                </a:tc>
                <a:tc>
                  <a:txBody>
                    <a:bodyPr/>
                    <a:lstStyle/>
                    <a:p>
                      <a:pPr algn="ctr"/>
                      <a:r>
                        <a:rPr sz="1200">
                          <a:solidFill>
                            <a:srgbClr val="0B0B0B"/>
                          </a:solidFill>
                        </a:rPr>
                        <a:t>228.52</a:t>
                      </a:r>
                    </a:p>
                  </a:txBody>
                  <a:tcPr marL="54864" marR="54864" marT="18288" marB="18288" anchor="ctr">
                    <a:solidFill>
                      <a:srgbClr val="FFFFFF"/>
                    </a:solidFill>
                  </a:tcPr>
                </a:tc>
                <a:tc>
                  <a:txBody>
                    <a:bodyPr/>
                    <a:lstStyle/>
                    <a:p>
                      <a:pPr algn="ctr"/>
                      <a:r>
                        <a:rPr sz="1200">
                          <a:solidFill>
                            <a:srgbClr val="0B0B0B"/>
                          </a:solidFill>
                        </a:rPr>
                        <a:t>+62.4%</a:t>
                      </a:r>
                    </a:p>
                  </a:txBody>
                  <a:tcPr marL="54864" marR="54864" marT="18288" marB="18288" anchor="ctr">
                    <a:solidFill>
                      <a:srgbClr val="FFFFFF"/>
                    </a:solidFill>
                  </a:tcPr>
                </a:tc>
                <a:tc>
                  <a:txBody>
                    <a:bodyPr/>
                    <a:lstStyle/>
                    <a:p>
                      <a:pPr algn="ctr"/>
                      <a:r>
                        <a:rPr sz="1200">
                          <a:solidFill>
                            <a:srgbClr val="0B0B0B"/>
                          </a:solidFill>
                        </a:rPr>
                        <a:t>未収束</a:t>
                      </a:r>
                    </a:p>
                  </a:txBody>
                  <a:tcPr marL="54864" marR="54864" marT="18288" marB="18288" anchor="ctr">
                    <a:solidFill>
                      <a:srgbClr val="FFFFFF"/>
                    </a:solidFill>
                  </a:tcPr>
                </a:tc>
              </a:tr>
              <a:tr h="457200">
                <a:tc>
                  <a:txBody>
                    <a:bodyPr/>
                    <a:lstStyle/>
                    <a:p>
                      <a:pPr algn="ctr"/>
                      <a:r>
                        <a:rPr sz="1200">
                          <a:solidFill>
                            <a:srgbClr val="0B0B0B"/>
                          </a:solidFill>
                        </a:rPr>
                        <a:t>8</a:t>
                      </a:r>
                    </a:p>
                  </a:txBody>
                  <a:tcPr marL="54864" marR="54864" marT="18288" marB="18288" anchor="ctr">
                    <a:solidFill>
                      <a:srgbClr val="F2F1EC"/>
                    </a:solidFill>
                  </a:tcPr>
                </a:tc>
                <a:tc>
                  <a:txBody>
                    <a:bodyPr/>
                    <a:lstStyle/>
                    <a:p>
                      <a:pPr algn="ctr"/>
                      <a:r>
                        <a:rPr sz="1200">
                          <a:solidFill>
                            <a:srgbClr val="0B0B0B"/>
                          </a:solidFill>
                        </a:rPr>
                        <a:t>103.9</a:t>
                      </a:r>
                    </a:p>
                  </a:txBody>
                  <a:tcPr marL="54864" marR="54864" marT="18288" marB="18288" anchor="ctr">
                    <a:solidFill>
                      <a:srgbClr val="F2F1EC"/>
                    </a:solidFill>
                  </a:tcPr>
                </a:tc>
                <a:tc>
                  <a:txBody>
                    <a:bodyPr/>
                    <a:lstStyle/>
                    <a:p>
                      <a:pPr algn="ctr"/>
                      <a:r>
                        <a:rPr sz="1200">
                          <a:solidFill>
                            <a:srgbClr val="0B0B0B"/>
                          </a:solidFill>
                        </a:rPr>
                        <a:t>167.84</a:t>
                      </a:r>
                    </a:p>
                  </a:txBody>
                  <a:tcPr marL="54864" marR="54864" marT="18288" marB="18288" anchor="ctr">
                    <a:solidFill>
                      <a:srgbClr val="F2F1EC"/>
                    </a:solidFill>
                  </a:tcPr>
                </a:tc>
                <a:tc>
                  <a:txBody>
                    <a:bodyPr/>
                    <a:lstStyle/>
                    <a:p>
                      <a:pPr algn="ctr"/>
                      <a:r>
                        <a:rPr sz="1200">
                          <a:solidFill>
                            <a:srgbClr val="0B0B0B"/>
                          </a:solidFill>
                        </a:rPr>
                        <a:t>181.04</a:t>
                      </a:r>
                    </a:p>
                  </a:txBody>
                  <a:tcPr marL="54864" marR="54864" marT="18288" marB="18288" anchor="ctr">
                    <a:solidFill>
                      <a:srgbClr val="F2F1EC"/>
                    </a:solidFill>
                  </a:tcPr>
                </a:tc>
                <a:tc>
                  <a:txBody>
                    <a:bodyPr/>
                    <a:lstStyle/>
                    <a:p>
                      <a:pPr algn="ctr"/>
                      <a:r>
                        <a:rPr sz="1200">
                          <a:solidFill>
                            <a:srgbClr val="0B0B0B"/>
                          </a:solidFill>
                        </a:rPr>
                        <a:t>+7.9%</a:t>
                      </a:r>
                    </a:p>
                  </a:txBody>
                  <a:tcPr marL="54864" marR="54864" marT="18288" marB="18288" anchor="ctr">
                    <a:solidFill>
                      <a:srgbClr val="F2F1EC"/>
                    </a:solidFill>
                  </a:tcPr>
                </a:tc>
                <a:tc>
                  <a:txBody>
                    <a:bodyPr/>
                    <a:lstStyle/>
                    <a:p>
                      <a:pPr algn="ctr"/>
                      <a:r>
                        <a:rPr sz="1200">
                          <a:solidFill>
                            <a:srgbClr val="0B0B0B"/>
                          </a:solidFill>
                        </a:rPr>
                        <a:t>—</a:t>
                      </a:r>
                    </a:p>
                  </a:txBody>
                  <a:tcPr marL="54864" marR="54864" marT="18288" marB="18288" anchor="ctr">
                    <a:solidFill>
                      <a:srgbClr val="F2F1EC"/>
                    </a:solidFill>
                  </a:tcPr>
                </a:tc>
                <a:tc>
                  <a:txBody>
                    <a:bodyPr/>
                    <a:lstStyle/>
                    <a:p>
                      <a:pPr algn="ctr"/>
                      <a:r>
                        <a:rPr sz="1200">
                          <a:solidFill>
                            <a:srgbClr val="0B0B0B"/>
                          </a:solidFill>
                        </a:rPr>
                        <a:t>—</a:t>
                      </a:r>
                    </a:p>
                  </a:txBody>
                  <a:tcPr marL="54864" marR="54864" marT="18288" marB="18288" anchor="ctr">
                    <a:solidFill>
                      <a:srgbClr val="F2F1EC"/>
                    </a:solidFill>
                  </a:tcPr>
                </a:tc>
                <a:tc>
                  <a:txBody>
                    <a:bodyPr/>
                    <a:lstStyle/>
                    <a:p>
                      <a:pPr algn="ctr"/>
                      <a:r>
                        <a:rPr sz="1200">
                          <a:solidFill>
                            <a:srgbClr val="0B0B0B"/>
                          </a:solidFill>
                        </a:rPr>
                        <a:t>計算なし</a:t>
                      </a:r>
                    </a:p>
                  </a:txBody>
                  <a:tcPr marL="54864" marR="54864" marT="18288" marB="18288" anchor="ctr">
                    <a:solidFill>
                      <a:srgbClr val="F2F1EC"/>
                    </a:solidFill>
                  </a:tcPr>
                </a:tc>
              </a:tr>
            </a:tbl>
          </a:graphicData>
        </a:graphic>
      </p:graphicFrame>
      <p:sp>
        <p:nvSpPr>
          <p:cNvPr id="6" name="TextBox 5"/>
          <p:cNvSpPr txBox="1"/>
          <p:nvPr/>
        </p:nvSpPr>
        <p:spPr>
          <a:xfrm>
            <a:off x="11521440" y="6492240"/>
            <a:ext cx="548640" cy="274320"/>
          </a:xfrm>
          <a:prstGeom prst="rect">
            <a:avLst/>
          </a:prstGeom>
          <a:noFill/>
        </p:spPr>
        <p:txBody>
          <a:bodyPr wrap="none">
            <a:spAutoFit/>
          </a:bodyPr>
          <a:lstStyle/>
          <a:p>
            <a:r>
              <a:rPr sz="1000">
                <a:solidFill>
                  <a:srgbClr val="52514E"/>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RESULTS</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5.2 結果：ボイド率の比較</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oid_fraction.png"/>
          <p:cNvPicPr>
            <a:picLocks noChangeAspect="1"/>
          </p:cNvPicPr>
          <p:nvPr/>
        </p:nvPicPr>
        <p:blipFill>
          <a:blip r:embed="rId2"/>
          <a:stretch>
            <a:fillRect/>
          </a:stretch>
        </p:blipFill>
        <p:spPr>
          <a:xfrm>
            <a:off x="2743200" y="1691640"/>
            <a:ext cx="6805246" cy="3931920"/>
          </a:xfrm>
          <a:prstGeom prst="rect">
            <a:avLst/>
          </a:prstGeom>
        </p:spPr>
      </p:pic>
      <p:sp>
        <p:nvSpPr>
          <p:cNvPr id="6" name="TextBox 5"/>
          <p:cNvSpPr txBox="1"/>
          <p:nvPr/>
        </p:nvSpPr>
        <p:spPr>
          <a:xfrm>
            <a:off x="548640" y="5760720"/>
            <a:ext cx="11064240" cy="822960"/>
          </a:xfrm>
          <a:prstGeom prst="rect">
            <a:avLst/>
          </a:prstGeom>
          <a:noFill/>
        </p:spPr>
        <p:txBody>
          <a:bodyPr wrap="square">
            <a:spAutoFit/>
          </a:bodyPr>
          <a:lstStyle/>
          <a:p>
            <a:r>
              <a:rPr sz="1300">
                <a:solidFill>
                  <a:srgbClr val="52514E"/>
                </a:solidFill>
              </a:rPr>
              <a:t>CFD は cellZone porosity1（Z=0.2〜0.9m）内平均で評価（全域平均は気相滞留で水増しされるため不可）。層内で見ると CFD は全ケースでボイド率を過小評価（−4.6〜−40.7%）し、jG が大きいほど一致が良くなる。</a:t>
            </a:r>
          </a:p>
        </p:txBody>
      </p:sp>
      <p:sp>
        <p:nvSpPr>
          <p:cNvPr id="7" name="TextBox 6"/>
          <p:cNvSpPr txBox="1"/>
          <p:nvPr/>
        </p:nvSpPr>
        <p:spPr>
          <a:xfrm>
            <a:off x="11521440" y="6492240"/>
            <a:ext cx="548640" cy="274320"/>
          </a:xfrm>
          <a:prstGeom prst="rect">
            <a:avLst/>
          </a:prstGeom>
          <a:noFill/>
        </p:spPr>
        <p:txBody>
          <a:bodyPr wrap="none">
            <a:spAutoFit/>
          </a:bodyPr>
          <a:lstStyle/>
          <a:p>
            <a:r>
              <a:rPr sz="1000">
                <a:solidFill>
                  <a:srgbClr val="52514E"/>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RESULTS</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5.3 抵抗力の内訳と速度分布</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64240" cy="457200"/>
          </a:xfrm>
          <a:prstGeom prst="rect">
            <a:avLst/>
          </a:prstGeom>
          <a:noFill/>
        </p:spPr>
        <p:txBody>
          <a:bodyPr wrap="none">
            <a:spAutoFit/>
          </a:bodyPr>
          <a:lstStyle/>
          <a:p>
            <a:r>
              <a:rPr sz="1400">
                <a:solidFill>
                  <a:srgbClr val="0B0B0B"/>
                </a:solidFill>
              </a:rPr>
              <a:t>層内の実測速度から多孔質抵抗力を再構成し、p_rgh の実測値と突き合わせた</a:t>
            </a:r>
          </a:p>
        </p:txBody>
      </p:sp>
      <p:graphicFrame>
        <p:nvGraphicFramePr>
          <p:cNvPr id="6" name="Table 5"/>
          <p:cNvGraphicFramePr>
            <a:graphicFrameLocks noGrp="1"/>
          </p:cNvGraphicFramePr>
          <p:nvPr/>
        </p:nvGraphicFramePr>
        <p:xfrm>
          <a:off x="548640" y="2331720"/>
          <a:ext cx="10058400" cy="2468880"/>
        </p:xfrm>
        <a:graphic>
          <a:graphicData uri="http://schemas.openxmlformats.org/drawingml/2006/table">
            <a:tbl>
              <a:tblPr firstRow="1" bandRow="1">
                <a:tableStyleId>{5C22544A-7EE6-4342-B048-85BDC9FD1C3A}</a:tableStyleId>
              </a:tblPr>
              <a:tblGrid>
                <a:gridCol w="822960"/>
                <a:gridCol w="960120"/>
                <a:gridCol w="914400"/>
                <a:gridCol w="731520"/>
                <a:gridCol w="1051560"/>
                <a:gridCol w="1051560"/>
                <a:gridCol w="731520"/>
                <a:gridCol w="960120"/>
                <a:gridCol w="1005840"/>
                <a:gridCol w="914400"/>
                <a:gridCol w="914400"/>
              </a:tblGrid>
              <a:tr h="411480">
                <a:tc>
                  <a:txBody>
                    <a:bodyPr/>
                    <a:lstStyle/>
                    <a:p>
                      <a:pPr algn="ctr"/>
                      <a:r>
                        <a:rPr sz="1050" b="1">
                          <a:solidFill>
                            <a:srgbClr val="FFFFFF"/>
                          </a:solidFill>
                        </a:rPr>
                        <a:t>case</a:t>
                      </a:r>
                    </a:p>
                  </a:txBody>
                  <a:tcPr marL="54864" marR="54864" marT="18288" marB="18288" anchor="ctr">
                    <a:solidFill>
                      <a:srgbClr val="2A78D6"/>
                    </a:solidFill>
                  </a:tcPr>
                </a:tc>
                <a:tc>
                  <a:txBody>
                    <a:bodyPr/>
                    <a:lstStyle/>
                    <a:p>
                      <a:pPr algn="ctr"/>
                      <a:r>
                        <a:rPr sz="1050" b="1">
                          <a:solidFill>
                            <a:srgbClr val="FFFFFF"/>
                          </a:solidFill>
                        </a:rPr>
                        <a:t>|U.air|</a:t>
                      </a:r>
                    </a:p>
                  </a:txBody>
                  <a:tcPr marL="54864" marR="54864" marT="18288" marB="18288" anchor="ctr">
                    <a:solidFill>
                      <a:srgbClr val="2A78D6"/>
                    </a:solidFill>
                  </a:tcPr>
                </a:tc>
                <a:tc>
                  <a:txBody>
                    <a:bodyPr/>
                    <a:lstStyle/>
                    <a:p>
                      <a:pPr algn="ctr"/>
                      <a:r>
                        <a:rPr sz="1050" b="1">
                          <a:solidFill>
                            <a:srgbClr val="FFFFFF"/>
                          </a:solidFill>
                        </a:rPr>
                        <a:t>jG/α</a:t>
                      </a:r>
                    </a:p>
                  </a:txBody>
                  <a:tcPr marL="54864" marR="54864" marT="18288" marB="18288" anchor="ctr">
                    <a:solidFill>
                      <a:srgbClr val="2A78D6"/>
                    </a:solidFill>
                  </a:tcPr>
                </a:tc>
                <a:tc>
                  <a:txBody>
                    <a:bodyPr/>
                    <a:lstStyle/>
                    <a:p>
                      <a:pPr algn="ctr"/>
                      <a:r>
                        <a:rPr sz="1050" b="1">
                          <a:solidFill>
                            <a:srgbClr val="FFFFFF"/>
                          </a:solidFill>
                        </a:rPr>
                        <a:t>比</a:t>
                      </a:r>
                    </a:p>
                  </a:txBody>
                  <a:tcPr marL="54864" marR="54864" marT="18288" marB="18288" anchor="ctr">
                    <a:solidFill>
                      <a:srgbClr val="2A78D6"/>
                    </a:solidFill>
                  </a:tcPr>
                </a:tc>
                <a:tc>
                  <a:txBody>
                    <a:bodyPr/>
                    <a:lstStyle/>
                    <a:p>
                      <a:pPr algn="ctr"/>
                      <a:r>
                        <a:rPr sz="1050" b="1">
                          <a:solidFill>
                            <a:srgbClr val="FFFFFF"/>
                          </a:solidFill>
                        </a:rPr>
                        <a:t>|U.water|</a:t>
                      </a:r>
                    </a:p>
                  </a:txBody>
                  <a:tcPr marL="54864" marR="54864" marT="18288" marB="18288" anchor="ctr">
                    <a:solidFill>
                      <a:srgbClr val="2A78D6"/>
                    </a:solidFill>
                  </a:tcPr>
                </a:tc>
                <a:tc>
                  <a:txBody>
                    <a:bodyPr/>
                    <a:lstStyle/>
                    <a:p>
                      <a:pPr algn="ctr"/>
                      <a:r>
                        <a:rPr sz="1050" b="1">
                          <a:solidFill>
                            <a:srgbClr val="FFFFFF"/>
                          </a:solidFill>
                        </a:rPr>
                        <a:t>jL/(1−α)</a:t>
                      </a:r>
                    </a:p>
                  </a:txBody>
                  <a:tcPr marL="54864" marR="54864" marT="18288" marB="18288" anchor="ctr">
                    <a:solidFill>
                      <a:srgbClr val="2A78D6"/>
                    </a:solidFill>
                  </a:tcPr>
                </a:tc>
                <a:tc>
                  <a:txBody>
                    <a:bodyPr/>
                    <a:lstStyle/>
                    <a:p>
                      <a:pPr algn="ctr"/>
                      <a:r>
                        <a:rPr sz="1050" b="1">
                          <a:solidFill>
                            <a:srgbClr val="FFFFFF"/>
                          </a:solidFill>
                        </a:rPr>
                        <a:t>比</a:t>
                      </a:r>
                    </a:p>
                  </a:txBody>
                  <a:tcPr marL="54864" marR="54864" marT="18288" marB="18288" anchor="ctr">
                    <a:solidFill>
                      <a:srgbClr val="2A78D6"/>
                    </a:solidFill>
                  </a:tcPr>
                </a:tc>
                <a:tc>
                  <a:txBody>
                    <a:bodyPr/>
                    <a:lstStyle/>
                    <a:p>
                      <a:pPr algn="ctr"/>
                      <a:r>
                        <a:rPr sz="1050" b="1">
                          <a:solidFill>
                            <a:srgbClr val="FFFFFF"/>
                          </a:solidFill>
                        </a:rPr>
                        <a:t>気相寄与</a:t>
                      </a:r>
                    </a:p>
                  </a:txBody>
                  <a:tcPr marL="54864" marR="54864" marT="18288" marB="18288" anchor="ctr">
                    <a:solidFill>
                      <a:srgbClr val="2A78D6"/>
                    </a:solidFill>
                  </a:tcPr>
                </a:tc>
                <a:tc>
                  <a:txBody>
                    <a:bodyPr/>
                    <a:lstStyle/>
                    <a:p>
                      <a:pPr algn="ctr"/>
                      <a:r>
                        <a:rPr sz="1050" b="1">
                          <a:solidFill>
                            <a:srgbClr val="FFFFFF"/>
                          </a:solidFill>
                        </a:rPr>
                        <a:t>再構成</a:t>
                      </a:r>
                    </a:p>
                  </a:txBody>
                  <a:tcPr marL="54864" marR="54864" marT="18288" marB="18288" anchor="ctr">
                    <a:solidFill>
                      <a:srgbClr val="2A78D6"/>
                    </a:solidFill>
                  </a:tcPr>
                </a:tc>
                <a:tc>
                  <a:txBody>
                    <a:bodyPr/>
                    <a:lstStyle/>
                    <a:p>
                      <a:pPr algn="ctr"/>
                      <a:r>
                        <a:rPr sz="1050" b="1">
                          <a:solidFill>
                            <a:srgbClr val="FFFFFF"/>
                          </a:solidFill>
                        </a:rPr>
                        <a:t>実測</a:t>
                      </a:r>
                    </a:p>
                  </a:txBody>
                  <a:tcPr marL="54864" marR="54864" marT="18288" marB="18288" anchor="ctr">
                    <a:solidFill>
                      <a:srgbClr val="2A78D6"/>
                    </a:solidFill>
                  </a:tcPr>
                </a:tc>
                <a:tc>
                  <a:txBody>
                    <a:bodyPr/>
                    <a:lstStyle/>
                    <a:p>
                      <a:pPr algn="ctr"/>
                      <a:r>
                        <a:rPr sz="1050" b="1">
                          <a:solidFill>
                            <a:srgbClr val="FFFFFF"/>
                          </a:solidFill>
                        </a:rPr>
                        <a:t>差</a:t>
                      </a:r>
                    </a:p>
                  </a:txBody>
                  <a:tcPr marL="54864" marR="54864" marT="18288" marB="18288" anchor="ctr">
                    <a:solidFill>
                      <a:srgbClr val="2A78D6"/>
                    </a:solidFill>
                  </a:tcPr>
                </a:tc>
              </a:tr>
              <a:tr h="411480">
                <a:tc>
                  <a:txBody>
                    <a:bodyPr/>
                    <a:lstStyle/>
                    <a:p>
                      <a:pPr algn="ctr"/>
                      <a:r>
                        <a:rPr sz="1050">
                          <a:solidFill>
                            <a:srgbClr val="0B0B0B"/>
                          </a:solidFill>
                        </a:rPr>
                        <a:t>1</a:t>
                      </a:r>
                    </a:p>
                  </a:txBody>
                  <a:tcPr marL="54864" marR="54864" marT="18288" marB="18288" anchor="ctr">
                    <a:solidFill>
                      <a:srgbClr val="FFFFFF"/>
                    </a:solidFill>
                  </a:tcPr>
                </a:tc>
                <a:tc>
                  <a:txBody>
                    <a:bodyPr/>
                    <a:lstStyle/>
                    <a:p>
                      <a:pPr algn="ctr"/>
                      <a:r>
                        <a:rPr sz="1050">
                          <a:solidFill>
                            <a:srgbClr val="0B0B0B"/>
                          </a:solidFill>
                        </a:rPr>
                        <a:t>0.357</a:t>
                      </a:r>
                    </a:p>
                  </a:txBody>
                  <a:tcPr marL="54864" marR="54864" marT="18288" marB="18288" anchor="ctr">
                    <a:solidFill>
                      <a:srgbClr val="FFFFFF"/>
                    </a:solidFill>
                  </a:tcPr>
                </a:tc>
                <a:tc>
                  <a:txBody>
                    <a:bodyPr/>
                    <a:lstStyle/>
                    <a:p>
                      <a:pPr algn="ctr"/>
                      <a:r>
                        <a:rPr sz="1050">
                          <a:solidFill>
                            <a:srgbClr val="0B0B0B"/>
                          </a:solidFill>
                        </a:rPr>
                        <a:t>0.252</a:t>
                      </a:r>
                    </a:p>
                  </a:txBody>
                  <a:tcPr marL="54864" marR="54864" marT="18288" marB="18288" anchor="ctr">
                    <a:solidFill>
                      <a:srgbClr val="FFFFFF"/>
                    </a:solidFill>
                  </a:tcPr>
                </a:tc>
                <a:tc>
                  <a:txBody>
                    <a:bodyPr/>
                    <a:lstStyle/>
                    <a:p>
                      <a:pPr algn="ctr"/>
                      <a:r>
                        <a:rPr sz="1050">
                          <a:solidFill>
                            <a:srgbClr val="0B0B0B"/>
                          </a:solidFill>
                        </a:rPr>
                        <a:t>1.42</a:t>
                      </a:r>
                    </a:p>
                  </a:txBody>
                  <a:tcPr marL="54864" marR="54864" marT="18288" marB="18288" anchor="ctr">
                    <a:solidFill>
                      <a:srgbClr val="FFFFFF"/>
                    </a:solidFill>
                  </a:tcPr>
                </a:tc>
                <a:tc>
                  <a:txBody>
                    <a:bodyPr/>
                    <a:lstStyle/>
                    <a:p>
                      <a:pPr algn="ctr"/>
                      <a:r>
                        <a:rPr sz="1050">
                          <a:solidFill>
                            <a:srgbClr val="0B0B0B"/>
                          </a:solidFill>
                        </a:rPr>
                        <a:t>0.1082</a:t>
                      </a:r>
                    </a:p>
                  </a:txBody>
                  <a:tcPr marL="54864" marR="54864" marT="18288" marB="18288" anchor="ctr">
                    <a:solidFill>
                      <a:srgbClr val="FFFFFF"/>
                    </a:solidFill>
                  </a:tcPr>
                </a:tc>
                <a:tc>
                  <a:txBody>
                    <a:bodyPr/>
                    <a:lstStyle/>
                    <a:p>
                      <a:pPr algn="ctr"/>
                      <a:r>
                        <a:rPr sz="1050">
                          <a:solidFill>
                            <a:srgbClr val="0B0B0B"/>
                          </a:solidFill>
                        </a:rPr>
                        <a:t>0.1086</a:t>
                      </a:r>
                    </a:p>
                  </a:txBody>
                  <a:tcPr marL="54864" marR="54864" marT="18288" marB="18288" anchor="ctr">
                    <a:solidFill>
                      <a:srgbClr val="FFFFFF"/>
                    </a:solidFill>
                  </a:tcPr>
                </a:tc>
                <a:tc>
                  <a:txBody>
                    <a:bodyPr/>
                    <a:lstStyle/>
                    <a:p>
                      <a:pPr algn="ctr"/>
                      <a:r>
                        <a:rPr sz="1050">
                          <a:solidFill>
                            <a:srgbClr val="0B0B0B"/>
                          </a:solidFill>
                        </a:rPr>
                        <a:t>1.00</a:t>
                      </a:r>
                    </a:p>
                  </a:txBody>
                  <a:tcPr marL="54864" marR="54864" marT="18288" marB="18288" anchor="ctr">
                    <a:solidFill>
                      <a:srgbClr val="FFFFFF"/>
                    </a:solidFill>
                  </a:tcPr>
                </a:tc>
                <a:tc>
                  <a:txBody>
                    <a:bodyPr/>
                    <a:lstStyle/>
                    <a:p>
                      <a:pPr algn="ctr"/>
                      <a:r>
                        <a:rPr sz="1050">
                          <a:solidFill>
                            <a:srgbClr val="0B0B0B"/>
                          </a:solidFill>
                        </a:rPr>
                        <a:t>5.9%</a:t>
                      </a:r>
                    </a:p>
                  </a:txBody>
                  <a:tcPr marL="54864" marR="54864" marT="18288" marB="18288" anchor="ctr">
                    <a:solidFill>
                      <a:srgbClr val="FFFFFF"/>
                    </a:solidFill>
                  </a:tcPr>
                </a:tc>
                <a:tc>
                  <a:txBody>
                    <a:bodyPr/>
                    <a:lstStyle/>
                    <a:p>
                      <a:pPr algn="ctr"/>
                      <a:r>
                        <a:rPr sz="1050">
                          <a:solidFill>
                            <a:srgbClr val="0B0B0B"/>
                          </a:solidFill>
                        </a:rPr>
                        <a:t>41.0</a:t>
                      </a:r>
                    </a:p>
                  </a:txBody>
                  <a:tcPr marL="54864" marR="54864" marT="18288" marB="18288" anchor="ctr">
                    <a:solidFill>
                      <a:srgbClr val="FFFFFF"/>
                    </a:solidFill>
                  </a:tcPr>
                </a:tc>
                <a:tc>
                  <a:txBody>
                    <a:bodyPr/>
                    <a:lstStyle/>
                    <a:p>
                      <a:pPr algn="ctr"/>
                      <a:r>
                        <a:rPr sz="1050">
                          <a:solidFill>
                            <a:srgbClr val="0B0B0B"/>
                          </a:solidFill>
                        </a:rPr>
                        <a:t>41.1</a:t>
                      </a:r>
                    </a:p>
                  </a:txBody>
                  <a:tcPr marL="54864" marR="54864" marT="18288" marB="18288" anchor="ctr">
                    <a:solidFill>
                      <a:srgbClr val="FFFFFF"/>
                    </a:solidFill>
                  </a:tcPr>
                </a:tc>
                <a:tc>
                  <a:txBody>
                    <a:bodyPr/>
                    <a:lstStyle/>
                    <a:p>
                      <a:pPr algn="ctr"/>
                      <a:r>
                        <a:rPr sz="1050">
                          <a:solidFill>
                            <a:srgbClr val="0B0B0B"/>
                          </a:solidFill>
                        </a:rPr>
                        <a:t>−0.2%</a:t>
                      </a:r>
                    </a:p>
                  </a:txBody>
                  <a:tcPr marL="54864" marR="54864" marT="18288" marB="18288" anchor="ctr">
                    <a:solidFill>
                      <a:srgbClr val="FFFFFF"/>
                    </a:solidFill>
                  </a:tcPr>
                </a:tc>
              </a:tr>
              <a:tr h="411480">
                <a:tc>
                  <a:txBody>
                    <a:bodyPr/>
                    <a:lstStyle/>
                    <a:p>
                      <a:pPr algn="ctr"/>
                      <a:r>
                        <a:rPr sz="1050">
                          <a:solidFill>
                            <a:srgbClr val="0B0B0B"/>
                          </a:solidFill>
                        </a:rPr>
                        <a:t>2</a:t>
                      </a:r>
                    </a:p>
                  </a:txBody>
                  <a:tcPr marL="54864" marR="54864" marT="18288" marB="18288" anchor="ctr">
                    <a:solidFill>
                      <a:srgbClr val="F2F1EC"/>
                    </a:solidFill>
                  </a:tcPr>
                </a:tc>
                <a:tc>
                  <a:txBody>
                    <a:bodyPr/>
                    <a:lstStyle/>
                    <a:p>
                      <a:pPr algn="ctr"/>
                      <a:r>
                        <a:rPr sz="1050">
                          <a:solidFill>
                            <a:srgbClr val="0B0B0B"/>
                          </a:solidFill>
                        </a:rPr>
                        <a:t>0.764</a:t>
                      </a:r>
                    </a:p>
                  </a:txBody>
                  <a:tcPr marL="54864" marR="54864" marT="18288" marB="18288" anchor="ctr">
                    <a:solidFill>
                      <a:srgbClr val="F2F1EC"/>
                    </a:solidFill>
                  </a:tcPr>
                </a:tc>
                <a:tc>
                  <a:txBody>
                    <a:bodyPr/>
                    <a:lstStyle/>
                    <a:p>
                      <a:pPr algn="ctr"/>
                      <a:r>
                        <a:rPr sz="1050">
                          <a:solidFill>
                            <a:srgbClr val="0B0B0B"/>
                          </a:solidFill>
                        </a:rPr>
                        <a:t>0.533</a:t>
                      </a:r>
                    </a:p>
                  </a:txBody>
                  <a:tcPr marL="54864" marR="54864" marT="18288" marB="18288" anchor="ctr">
                    <a:solidFill>
                      <a:srgbClr val="F2F1EC"/>
                    </a:solidFill>
                  </a:tcPr>
                </a:tc>
                <a:tc>
                  <a:txBody>
                    <a:bodyPr/>
                    <a:lstStyle/>
                    <a:p>
                      <a:pPr algn="ctr"/>
                      <a:r>
                        <a:rPr sz="1050">
                          <a:solidFill>
                            <a:srgbClr val="0B0B0B"/>
                          </a:solidFill>
                        </a:rPr>
                        <a:t>1.44</a:t>
                      </a:r>
                    </a:p>
                  </a:txBody>
                  <a:tcPr marL="54864" marR="54864" marT="18288" marB="18288" anchor="ctr">
                    <a:solidFill>
                      <a:srgbClr val="F2F1EC"/>
                    </a:solidFill>
                  </a:tcPr>
                </a:tc>
                <a:tc>
                  <a:txBody>
                    <a:bodyPr/>
                    <a:lstStyle/>
                    <a:p>
                      <a:pPr algn="ctr"/>
                      <a:r>
                        <a:rPr sz="1050">
                          <a:solidFill>
                            <a:srgbClr val="0B0B0B"/>
                          </a:solidFill>
                        </a:rPr>
                        <a:t>0.1110</a:t>
                      </a:r>
                    </a:p>
                  </a:txBody>
                  <a:tcPr marL="54864" marR="54864" marT="18288" marB="18288" anchor="ctr">
                    <a:solidFill>
                      <a:srgbClr val="F2F1EC"/>
                    </a:solidFill>
                  </a:tcPr>
                </a:tc>
                <a:tc>
                  <a:txBody>
                    <a:bodyPr/>
                    <a:lstStyle/>
                    <a:p>
                      <a:pPr algn="ctr"/>
                      <a:r>
                        <a:rPr sz="1050">
                          <a:solidFill>
                            <a:srgbClr val="0B0B0B"/>
                          </a:solidFill>
                        </a:rPr>
                        <a:t>0.1145</a:t>
                      </a:r>
                    </a:p>
                  </a:txBody>
                  <a:tcPr marL="54864" marR="54864" marT="18288" marB="18288" anchor="ctr">
                    <a:solidFill>
                      <a:srgbClr val="F2F1EC"/>
                    </a:solidFill>
                  </a:tcPr>
                </a:tc>
                <a:tc>
                  <a:txBody>
                    <a:bodyPr/>
                    <a:lstStyle/>
                    <a:p>
                      <a:pPr algn="ctr"/>
                      <a:r>
                        <a:rPr sz="1050">
                          <a:solidFill>
                            <a:srgbClr val="0B0B0B"/>
                          </a:solidFill>
                        </a:rPr>
                        <a:t>0.97</a:t>
                      </a:r>
                    </a:p>
                  </a:txBody>
                  <a:tcPr marL="54864" marR="54864" marT="18288" marB="18288" anchor="ctr">
                    <a:solidFill>
                      <a:srgbClr val="F2F1EC"/>
                    </a:solidFill>
                  </a:tcPr>
                </a:tc>
                <a:tc>
                  <a:txBody>
                    <a:bodyPr/>
                    <a:lstStyle/>
                    <a:p>
                      <a:pPr algn="ctr"/>
                      <a:r>
                        <a:rPr sz="1050">
                          <a:solidFill>
                            <a:srgbClr val="0B0B0B"/>
                          </a:solidFill>
                        </a:rPr>
                        <a:t>5.1%</a:t>
                      </a:r>
                    </a:p>
                  </a:txBody>
                  <a:tcPr marL="54864" marR="54864" marT="18288" marB="18288" anchor="ctr">
                    <a:solidFill>
                      <a:srgbClr val="F2F1EC"/>
                    </a:solidFill>
                  </a:tcPr>
                </a:tc>
                <a:tc>
                  <a:txBody>
                    <a:bodyPr/>
                    <a:lstStyle/>
                    <a:p>
                      <a:pPr algn="ctr"/>
                      <a:r>
                        <a:rPr sz="1050">
                          <a:solidFill>
                            <a:srgbClr val="0B0B0B"/>
                          </a:solidFill>
                        </a:rPr>
                        <a:t>47.7</a:t>
                      </a:r>
                    </a:p>
                  </a:txBody>
                  <a:tcPr marL="54864" marR="54864" marT="18288" marB="18288" anchor="ctr">
                    <a:solidFill>
                      <a:srgbClr val="F2F1EC"/>
                    </a:solidFill>
                  </a:tcPr>
                </a:tc>
                <a:tc>
                  <a:txBody>
                    <a:bodyPr/>
                    <a:lstStyle/>
                    <a:p>
                      <a:pPr algn="ctr"/>
                      <a:r>
                        <a:rPr sz="1050">
                          <a:solidFill>
                            <a:srgbClr val="0B0B0B"/>
                          </a:solidFill>
                        </a:rPr>
                        <a:t>53.3</a:t>
                      </a:r>
                    </a:p>
                  </a:txBody>
                  <a:tcPr marL="54864" marR="54864" marT="18288" marB="18288" anchor="ctr">
                    <a:solidFill>
                      <a:srgbClr val="F2F1EC"/>
                    </a:solidFill>
                  </a:tcPr>
                </a:tc>
                <a:tc>
                  <a:txBody>
                    <a:bodyPr/>
                    <a:lstStyle/>
                    <a:p>
                      <a:pPr algn="ctr"/>
                      <a:r>
                        <a:rPr sz="1050">
                          <a:solidFill>
                            <a:srgbClr val="0B0B0B"/>
                          </a:solidFill>
                        </a:rPr>
                        <a:t>−10.6%</a:t>
                      </a:r>
                    </a:p>
                  </a:txBody>
                  <a:tcPr marL="54864" marR="54864" marT="18288" marB="18288" anchor="ctr">
                    <a:solidFill>
                      <a:srgbClr val="F2F1EC"/>
                    </a:solidFill>
                  </a:tcPr>
                </a:tc>
              </a:tr>
              <a:tr h="411480">
                <a:tc>
                  <a:txBody>
                    <a:bodyPr/>
                    <a:lstStyle/>
                    <a:p>
                      <a:pPr algn="ctr"/>
                      <a:r>
                        <a:rPr sz="1050">
                          <a:solidFill>
                            <a:srgbClr val="0B0B0B"/>
                          </a:solidFill>
                        </a:rPr>
                        <a:t>3</a:t>
                      </a:r>
                    </a:p>
                  </a:txBody>
                  <a:tcPr marL="54864" marR="54864" marT="18288" marB="18288" anchor="ctr">
                    <a:solidFill>
                      <a:srgbClr val="FFFFFF"/>
                    </a:solidFill>
                  </a:tcPr>
                </a:tc>
                <a:tc>
                  <a:txBody>
                    <a:bodyPr/>
                    <a:lstStyle/>
                    <a:p>
                      <a:pPr algn="ctr"/>
                      <a:r>
                        <a:rPr sz="1050">
                          <a:solidFill>
                            <a:srgbClr val="0B0B0B"/>
                          </a:solidFill>
                        </a:rPr>
                        <a:t>0.965</a:t>
                      </a:r>
                    </a:p>
                  </a:txBody>
                  <a:tcPr marL="54864" marR="54864" marT="18288" marB="18288" anchor="ctr">
                    <a:solidFill>
                      <a:srgbClr val="FFFFFF"/>
                    </a:solidFill>
                  </a:tcPr>
                </a:tc>
                <a:tc>
                  <a:txBody>
                    <a:bodyPr/>
                    <a:lstStyle/>
                    <a:p>
                      <a:pPr algn="ctr"/>
                      <a:r>
                        <a:rPr sz="1050">
                          <a:solidFill>
                            <a:srgbClr val="0B0B0B"/>
                          </a:solidFill>
                        </a:rPr>
                        <a:t>0.737</a:t>
                      </a:r>
                    </a:p>
                  </a:txBody>
                  <a:tcPr marL="54864" marR="54864" marT="18288" marB="18288" anchor="ctr">
                    <a:solidFill>
                      <a:srgbClr val="FFFFFF"/>
                    </a:solidFill>
                  </a:tcPr>
                </a:tc>
                <a:tc>
                  <a:txBody>
                    <a:bodyPr/>
                    <a:lstStyle/>
                    <a:p>
                      <a:pPr algn="ctr"/>
                      <a:r>
                        <a:rPr sz="1050">
                          <a:solidFill>
                            <a:srgbClr val="0B0B0B"/>
                          </a:solidFill>
                        </a:rPr>
                        <a:t>1.31</a:t>
                      </a:r>
                    </a:p>
                  </a:txBody>
                  <a:tcPr marL="54864" marR="54864" marT="18288" marB="18288" anchor="ctr">
                    <a:solidFill>
                      <a:srgbClr val="FFFFFF"/>
                    </a:solidFill>
                  </a:tcPr>
                </a:tc>
                <a:tc>
                  <a:txBody>
                    <a:bodyPr/>
                    <a:lstStyle/>
                    <a:p>
                      <a:pPr algn="ctr"/>
                      <a:r>
                        <a:rPr sz="1050">
                          <a:solidFill>
                            <a:srgbClr val="0B0B0B"/>
                          </a:solidFill>
                        </a:rPr>
                        <a:t>0.1330</a:t>
                      </a:r>
                    </a:p>
                  </a:txBody>
                  <a:tcPr marL="54864" marR="54864" marT="18288" marB="18288" anchor="ctr">
                    <a:solidFill>
                      <a:srgbClr val="FFFFFF"/>
                    </a:solidFill>
                  </a:tcPr>
                </a:tc>
                <a:tc>
                  <a:txBody>
                    <a:bodyPr/>
                    <a:lstStyle/>
                    <a:p>
                      <a:pPr algn="ctr"/>
                      <a:r>
                        <a:rPr sz="1050">
                          <a:solidFill>
                            <a:srgbClr val="0B0B0B"/>
                          </a:solidFill>
                        </a:rPr>
                        <a:t>0.1326</a:t>
                      </a:r>
                    </a:p>
                  </a:txBody>
                  <a:tcPr marL="54864" marR="54864" marT="18288" marB="18288" anchor="ctr">
                    <a:solidFill>
                      <a:srgbClr val="FFFFFF"/>
                    </a:solidFill>
                  </a:tcPr>
                </a:tc>
                <a:tc>
                  <a:txBody>
                    <a:bodyPr/>
                    <a:lstStyle/>
                    <a:p>
                      <a:pPr algn="ctr"/>
                      <a:r>
                        <a:rPr sz="1050">
                          <a:solidFill>
                            <a:srgbClr val="0B0B0B"/>
                          </a:solidFill>
                        </a:rPr>
                        <a:t>1.00</a:t>
                      </a:r>
                    </a:p>
                  </a:txBody>
                  <a:tcPr marL="54864" marR="54864" marT="18288" marB="18288" anchor="ctr">
                    <a:solidFill>
                      <a:srgbClr val="FFFFFF"/>
                    </a:solidFill>
                  </a:tcPr>
                </a:tc>
                <a:tc>
                  <a:txBody>
                    <a:bodyPr/>
                    <a:lstStyle/>
                    <a:p>
                      <a:pPr algn="ctr"/>
                      <a:r>
                        <a:rPr sz="1050">
                          <a:solidFill>
                            <a:srgbClr val="0B0B0B"/>
                          </a:solidFill>
                        </a:rPr>
                        <a:t>5.8%</a:t>
                      </a:r>
                    </a:p>
                  </a:txBody>
                  <a:tcPr marL="54864" marR="54864" marT="18288" marB="18288" anchor="ctr">
                    <a:solidFill>
                      <a:srgbClr val="FFFFFF"/>
                    </a:solidFill>
                  </a:tcPr>
                </a:tc>
                <a:tc>
                  <a:txBody>
                    <a:bodyPr/>
                    <a:lstStyle/>
                    <a:p>
                      <a:pPr algn="ctr"/>
                      <a:r>
                        <a:rPr sz="1050">
                          <a:solidFill>
                            <a:srgbClr val="0B0B0B"/>
                          </a:solidFill>
                        </a:rPr>
                        <a:t>71.5</a:t>
                      </a:r>
                    </a:p>
                  </a:txBody>
                  <a:tcPr marL="54864" marR="54864" marT="18288" marB="18288" anchor="ctr">
                    <a:solidFill>
                      <a:srgbClr val="FFFFFF"/>
                    </a:solidFill>
                  </a:tcPr>
                </a:tc>
                <a:tc>
                  <a:txBody>
                    <a:bodyPr/>
                    <a:lstStyle/>
                    <a:p>
                      <a:pPr algn="ctr"/>
                      <a:r>
                        <a:rPr sz="1050">
                          <a:solidFill>
                            <a:srgbClr val="0B0B0B"/>
                          </a:solidFill>
                        </a:rPr>
                        <a:t>76.9</a:t>
                      </a:r>
                    </a:p>
                  </a:txBody>
                  <a:tcPr marL="54864" marR="54864" marT="18288" marB="18288" anchor="ctr">
                    <a:solidFill>
                      <a:srgbClr val="FFFFFF"/>
                    </a:solidFill>
                  </a:tcPr>
                </a:tc>
                <a:tc>
                  <a:txBody>
                    <a:bodyPr/>
                    <a:lstStyle/>
                    <a:p>
                      <a:pPr algn="ctr"/>
                      <a:r>
                        <a:rPr sz="1050">
                          <a:solidFill>
                            <a:srgbClr val="0B0B0B"/>
                          </a:solidFill>
                        </a:rPr>
                        <a:t>−7.0%</a:t>
                      </a:r>
                    </a:p>
                  </a:txBody>
                  <a:tcPr marL="54864" marR="54864" marT="18288" marB="18288" anchor="ctr">
                    <a:solidFill>
                      <a:srgbClr val="FFFFFF"/>
                    </a:solidFill>
                  </a:tcPr>
                </a:tc>
              </a:tr>
              <a:tr h="411480">
                <a:tc>
                  <a:txBody>
                    <a:bodyPr/>
                    <a:lstStyle/>
                    <a:p>
                      <a:pPr algn="ctr"/>
                      <a:r>
                        <a:rPr sz="1050">
                          <a:solidFill>
                            <a:srgbClr val="0B0B0B"/>
                          </a:solidFill>
                        </a:rPr>
                        <a:t>4</a:t>
                      </a:r>
                    </a:p>
                  </a:txBody>
                  <a:tcPr marL="54864" marR="54864" marT="18288" marB="18288" anchor="ctr">
                    <a:solidFill>
                      <a:srgbClr val="F2F1EC"/>
                    </a:solidFill>
                  </a:tcPr>
                </a:tc>
                <a:tc>
                  <a:txBody>
                    <a:bodyPr/>
                    <a:lstStyle/>
                    <a:p>
                      <a:pPr algn="ctr"/>
                      <a:r>
                        <a:rPr sz="1050">
                          <a:solidFill>
                            <a:srgbClr val="0B0B0B"/>
                          </a:solidFill>
                        </a:rPr>
                        <a:t>1.238</a:t>
                      </a:r>
                    </a:p>
                  </a:txBody>
                  <a:tcPr marL="54864" marR="54864" marT="18288" marB="18288" anchor="ctr">
                    <a:solidFill>
                      <a:srgbClr val="F2F1EC"/>
                    </a:solidFill>
                  </a:tcPr>
                </a:tc>
                <a:tc>
                  <a:txBody>
                    <a:bodyPr/>
                    <a:lstStyle/>
                    <a:p>
                      <a:pPr algn="ctr"/>
                      <a:r>
                        <a:rPr sz="1050">
                          <a:solidFill>
                            <a:srgbClr val="0B0B0B"/>
                          </a:solidFill>
                        </a:rPr>
                        <a:t>0.912</a:t>
                      </a:r>
                    </a:p>
                  </a:txBody>
                  <a:tcPr marL="54864" marR="54864" marT="18288" marB="18288" anchor="ctr">
                    <a:solidFill>
                      <a:srgbClr val="F2F1EC"/>
                    </a:solidFill>
                  </a:tcPr>
                </a:tc>
                <a:tc>
                  <a:txBody>
                    <a:bodyPr/>
                    <a:lstStyle/>
                    <a:p>
                      <a:pPr algn="ctr"/>
                      <a:r>
                        <a:rPr sz="1050">
                          <a:solidFill>
                            <a:srgbClr val="0B0B0B"/>
                          </a:solidFill>
                        </a:rPr>
                        <a:t>1.36</a:t>
                      </a:r>
                    </a:p>
                  </a:txBody>
                  <a:tcPr marL="54864" marR="54864" marT="18288" marB="18288" anchor="ctr">
                    <a:solidFill>
                      <a:srgbClr val="F2F1EC"/>
                    </a:solidFill>
                  </a:tcPr>
                </a:tc>
                <a:tc>
                  <a:txBody>
                    <a:bodyPr/>
                    <a:lstStyle/>
                    <a:p>
                      <a:pPr algn="ctr"/>
                      <a:r>
                        <a:rPr sz="1050">
                          <a:solidFill>
                            <a:srgbClr val="0B0B0B"/>
                          </a:solidFill>
                        </a:rPr>
                        <a:t>0.1537</a:t>
                      </a:r>
                    </a:p>
                  </a:txBody>
                  <a:tcPr marL="54864" marR="54864" marT="18288" marB="18288" anchor="ctr">
                    <a:solidFill>
                      <a:srgbClr val="F2F1EC"/>
                    </a:solidFill>
                  </a:tcPr>
                </a:tc>
                <a:tc>
                  <a:txBody>
                    <a:bodyPr/>
                    <a:lstStyle/>
                    <a:p>
                      <a:pPr algn="ctr"/>
                      <a:r>
                        <a:rPr sz="1050">
                          <a:solidFill>
                            <a:srgbClr val="0B0B0B"/>
                          </a:solidFill>
                        </a:rPr>
                        <a:t>0.1543</a:t>
                      </a:r>
                    </a:p>
                  </a:txBody>
                  <a:tcPr marL="54864" marR="54864" marT="18288" marB="18288" anchor="ctr">
                    <a:solidFill>
                      <a:srgbClr val="F2F1EC"/>
                    </a:solidFill>
                  </a:tcPr>
                </a:tc>
                <a:tc>
                  <a:txBody>
                    <a:bodyPr/>
                    <a:lstStyle/>
                    <a:p>
                      <a:pPr algn="ctr"/>
                      <a:r>
                        <a:rPr sz="1050">
                          <a:solidFill>
                            <a:srgbClr val="0B0B0B"/>
                          </a:solidFill>
                        </a:rPr>
                        <a:t>1.00</a:t>
                      </a:r>
                    </a:p>
                  </a:txBody>
                  <a:tcPr marL="54864" marR="54864" marT="18288" marB="18288" anchor="ctr">
                    <a:solidFill>
                      <a:srgbClr val="F2F1EC"/>
                    </a:solidFill>
                  </a:tcPr>
                </a:tc>
                <a:tc>
                  <a:txBody>
                    <a:bodyPr/>
                    <a:lstStyle/>
                    <a:p>
                      <a:pPr algn="ctr"/>
                      <a:r>
                        <a:rPr sz="1050">
                          <a:solidFill>
                            <a:srgbClr val="0B0B0B"/>
                          </a:solidFill>
                        </a:rPr>
                        <a:t>8.9%</a:t>
                      </a:r>
                    </a:p>
                  </a:txBody>
                  <a:tcPr marL="54864" marR="54864" marT="18288" marB="18288" anchor="ctr">
                    <a:solidFill>
                      <a:srgbClr val="F2F1EC"/>
                    </a:solidFill>
                  </a:tcPr>
                </a:tc>
                <a:tc>
                  <a:txBody>
                    <a:bodyPr/>
                    <a:lstStyle/>
                    <a:p>
                      <a:pPr algn="ctr"/>
                      <a:r>
                        <a:rPr sz="1050">
                          <a:solidFill>
                            <a:srgbClr val="0B0B0B"/>
                          </a:solidFill>
                        </a:rPr>
                        <a:t>92.9</a:t>
                      </a:r>
                    </a:p>
                  </a:txBody>
                  <a:tcPr marL="54864" marR="54864" marT="18288" marB="18288" anchor="ctr">
                    <a:solidFill>
                      <a:srgbClr val="F2F1EC"/>
                    </a:solidFill>
                  </a:tcPr>
                </a:tc>
                <a:tc>
                  <a:txBody>
                    <a:bodyPr/>
                    <a:lstStyle/>
                    <a:p>
                      <a:pPr algn="ctr"/>
                      <a:r>
                        <a:rPr sz="1050">
                          <a:solidFill>
                            <a:srgbClr val="0B0B0B"/>
                          </a:solidFill>
                        </a:rPr>
                        <a:t>98.4</a:t>
                      </a:r>
                    </a:p>
                  </a:txBody>
                  <a:tcPr marL="54864" marR="54864" marT="18288" marB="18288" anchor="ctr">
                    <a:solidFill>
                      <a:srgbClr val="F2F1EC"/>
                    </a:solidFill>
                  </a:tcPr>
                </a:tc>
                <a:tc>
                  <a:txBody>
                    <a:bodyPr/>
                    <a:lstStyle/>
                    <a:p>
                      <a:pPr algn="ctr"/>
                      <a:r>
                        <a:rPr sz="1050">
                          <a:solidFill>
                            <a:srgbClr val="0B0B0B"/>
                          </a:solidFill>
                        </a:rPr>
                        <a:t>−5.6%</a:t>
                      </a:r>
                    </a:p>
                  </a:txBody>
                  <a:tcPr marL="54864" marR="54864" marT="18288" marB="18288" anchor="ctr">
                    <a:solidFill>
                      <a:srgbClr val="F2F1EC"/>
                    </a:solidFill>
                  </a:tcPr>
                </a:tc>
              </a:tr>
              <a:tr h="411480">
                <a:tc>
                  <a:txBody>
                    <a:bodyPr/>
                    <a:lstStyle/>
                    <a:p>
                      <a:pPr algn="ctr"/>
                      <a:r>
                        <a:rPr sz="1050">
                          <a:solidFill>
                            <a:srgbClr val="0B0B0B"/>
                          </a:solidFill>
                        </a:rPr>
                        <a:t>7</a:t>
                      </a:r>
                    </a:p>
                  </a:txBody>
                  <a:tcPr marL="54864" marR="54864" marT="18288" marB="18288" anchor="ctr">
                    <a:solidFill>
                      <a:srgbClr val="FFFFFF"/>
                    </a:solidFill>
                  </a:tcPr>
                </a:tc>
                <a:tc>
                  <a:txBody>
                    <a:bodyPr/>
                    <a:lstStyle/>
                    <a:p>
                      <a:pPr algn="ctr"/>
                      <a:r>
                        <a:rPr sz="1050">
                          <a:solidFill>
                            <a:srgbClr val="0B0B0B"/>
                          </a:solidFill>
                        </a:rPr>
                        <a:t>2.405</a:t>
                      </a:r>
                    </a:p>
                  </a:txBody>
                  <a:tcPr marL="54864" marR="54864" marT="18288" marB="18288" anchor="ctr">
                    <a:solidFill>
                      <a:srgbClr val="FFFFFF"/>
                    </a:solidFill>
                  </a:tcPr>
                </a:tc>
                <a:tc>
                  <a:txBody>
                    <a:bodyPr/>
                    <a:lstStyle/>
                    <a:p>
                      <a:pPr algn="ctr"/>
                      <a:r>
                        <a:rPr sz="1050">
                          <a:solidFill>
                            <a:srgbClr val="0B0B0B"/>
                          </a:solidFill>
                        </a:rPr>
                        <a:t>1.583</a:t>
                      </a:r>
                    </a:p>
                  </a:txBody>
                  <a:tcPr marL="54864" marR="54864" marT="18288" marB="18288" anchor="ctr">
                    <a:solidFill>
                      <a:srgbClr val="FFFFFF"/>
                    </a:solidFill>
                  </a:tcPr>
                </a:tc>
                <a:tc>
                  <a:txBody>
                    <a:bodyPr/>
                    <a:lstStyle/>
                    <a:p>
                      <a:pPr algn="ctr"/>
                      <a:r>
                        <a:rPr sz="1050">
                          <a:solidFill>
                            <a:srgbClr val="0B0B0B"/>
                          </a:solidFill>
                        </a:rPr>
                        <a:t>1.52</a:t>
                      </a:r>
                    </a:p>
                  </a:txBody>
                  <a:tcPr marL="54864" marR="54864" marT="18288" marB="18288" anchor="ctr">
                    <a:solidFill>
                      <a:srgbClr val="FFFFFF"/>
                    </a:solidFill>
                  </a:tcPr>
                </a:tc>
                <a:tc>
                  <a:txBody>
                    <a:bodyPr/>
                    <a:lstStyle/>
                    <a:p>
                      <a:pPr algn="ctr"/>
                      <a:r>
                        <a:rPr sz="1050">
                          <a:solidFill>
                            <a:srgbClr val="0B0B0B"/>
                          </a:solidFill>
                        </a:rPr>
                        <a:t>0.1832</a:t>
                      </a:r>
                    </a:p>
                  </a:txBody>
                  <a:tcPr marL="54864" marR="54864" marT="18288" marB="18288" anchor="ctr">
                    <a:solidFill>
                      <a:srgbClr val="FFFFFF"/>
                    </a:solidFill>
                  </a:tcPr>
                </a:tc>
                <a:tc>
                  <a:txBody>
                    <a:bodyPr/>
                    <a:lstStyle/>
                    <a:p>
                      <a:pPr algn="ctr"/>
                      <a:r>
                        <a:rPr sz="1050">
                          <a:solidFill>
                            <a:srgbClr val="0B0B0B"/>
                          </a:solidFill>
                        </a:rPr>
                        <a:t>0.1871</a:t>
                      </a:r>
                    </a:p>
                  </a:txBody>
                  <a:tcPr marL="54864" marR="54864" marT="18288" marB="18288" anchor="ctr">
                    <a:solidFill>
                      <a:srgbClr val="FFFFFF"/>
                    </a:solidFill>
                  </a:tcPr>
                </a:tc>
                <a:tc>
                  <a:txBody>
                    <a:bodyPr/>
                    <a:lstStyle/>
                    <a:p>
                      <a:pPr algn="ctr"/>
                      <a:r>
                        <a:rPr sz="1050">
                          <a:solidFill>
                            <a:srgbClr val="0B0B0B"/>
                          </a:solidFill>
                        </a:rPr>
                        <a:t>0.98</a:t>
                      </a:r>
                    </a:p>
                  </a:txBody>
                  <a:tcPr marL="54864" marR="54864" marT="18288" marB="18288" anchor="ctr">
                    <a:solidFill>
                      <a:srgbClr val="FFFFFF"/>
                    </a:solidFill>
                  </a:tcPr>
                </a:tc>
                <a:tc>
                  <a:txBody>
                    <a:bodyPr/>
                    <a:lstStyle/>
                    <a:p>
                      <a:pPr algn="ctr"/>
                      <a:r>
                        <a:rPr sz="1050">
                          <a:solidFill>
                            <a:srgbClr val="0B0B0B"/>
                          </a:solidFill>
                        </a:rPr>
                        <a:t>24.4%</a:t>
                      </a:r>
                    </a:p>
                  </a:txBody>
                  <a:tcPr marL="54864" marR="54864" marT="18288" marB="18288" anchor="ctr">
                    <a:solidFill>
                      <a:srgbClr val="FFFFFF"/>
                    </a:solidFill>
                  </a:tcPr>
                </a:tc>
                <a:tc>
                  <a:txBody>
                    <a:bodyPr/>
                    <a:lstStyle/>
                    <a:p>
                      <a:pPr algn="ctr"/>
                      <a:r>
                        <a:rPr sz="1050">
                          <a:solidFill>
                            <a:srgbClr val="0B0B0B"/>
                          </a:solidFill>
                        </a:rPr>
                        <a:t>150.6</a:t>
                      </a:r>
                    </a:p>
                  </a:txBody>
                  <a:tcPr marL="54864" marR="54864" marT="18288" marB="18288" anchor="ctr">
                    <a:solidFill>
                      <a:srgbClr val="FFFFFF"/>
                    </a:solidFill>
                  </a:tcPr>
                </a:tc>
                <a:tc>
                  <a:txBody>
                    <a:bodyPr/>
                    <a:lstStyle/>
                    <a:p>
                      <a:pPr algn="ctr"/>
                      <a:r>
                        <a:rPr sz="1050">
                          <a:solidFill>
                            <a:srgbClr val="0B0B0B"/>
                          </a:solidFill>
                        </a:rPr>
                        <a:t>153.1</a:t>
                      </a:r>
                    </a:p>
                  </a:txBody>
                  <a:tcPr marL="54864" marR="54864" marT="18288" marB="18288" anchor="ctr">
                    <a:solidFill>
                      <a:srgbClr val="FFFFFF"/>
                    </a:solidFill>
                  </a:tcPr>
                </a:tc>
                <a:tc>
                  <a:txBody>
                    <a:bodyPr/>
                    <a:lstStyle/>
                    <a:p>
                      <a:pPr algn="ctr"/>
                      <a:r>
                        <a:rPr sz="1050">
                          <a:solidFill>
                            <a:srgbClr val="0B0B0B"/>
                          </a:solidFill>
                        </a:rPr>
                        <a:t>−1.6%</a:t>
                      </a:r>
                    </a:p>
                  </a:txBody>
                  <a:tcPr marL="54864" marR="54864" marT="18288" marB="18288" anchor="ctr">
                    <a:solidFill>
                      <a:srgbClr val="FFFFFF"/>
                    </a:solidFill>
                  </a:tcPr>
                </a:tc>
              </a:tr>
            </a:tbl>
          </a:graphicData>
        </a:graphic>
      </p:graphicFrame>
      <p:sp>
        <p:nvSpPr>
          <p:cNvPr id="7" name="TextBox 6"/>
          <p:cNvSpPr txBox="1"/>
          <p:nvPr/>
        </p:nvSpPr>
        <p:spPr>
          <a:xfrm>
            <a:off x="548640" y="4754880"/>
            <a:ext cx="11064240" cy="1463040"/>
          </a:xfrm>
          <a:prstGeom prst="rect">
            <a:avLst/>
          </a:prstGeom>
          <a:noFill/>
        </p:spPr>
        <p:txBody>
          <a:bodyPr wrap="square">
            <a:spAutoFit/>
          </a:bodyPr>
          <a:lstStyle/>
          <a:p>
            <a:pPr>
              <a:spcAft>
                <a:spcPts val="600"/>
              </a:spcAft>
            </a:pPr>
            <a:r>
              <a:rPr sz="1300">
                <a:solidFill>
                  <a:srgbClr val="52514E"/>
                </a:solidFill>
              </a:rPr>
              <a:t>▪ 再構成値は実測と 0.2〜7% で一致（case2 は未収束のため −10.6%）し、抵抗力モデルの理解が正しいことを確認</a:t>
            </a:r>
          </a:p>
          <a:p>
            <a:pPr>
              <a:spcAft>
                <a:spcPts val="600"/>
              </a:spcAft>
            </a:pPr>
            <a:r>
              <a:rPr sz="1300">
                <a:solidFill>
                  <a:srgbClr val="52514E"/>
                </a:solidFill>
              </a:rPr>
              <a:t>▪ 液相速度は 1 次元推定 jL/(1−α) と完全に一致（比 0.97〜1.00）</a:t>
            </a:r>
          </a:p>
          <a:p>
            <a:pPr>
              <a:spcAft>
                <a:spcPts val="600"/>
              </a:spcAft>
            </a:pPr>
            <a:r>
              <a:rPr sz="1300">
                <a:solidFill>
                  <a:srgbClr val="52514E"/>
                </a:solidFill>
              </a:rPr>
              <a:t>▪ 気相速度は jG/α より 31〜52% 速く、充填層内で偏流・チャネリングを起こしている</a:t>
            </a:r>
          </a:p>
        </p:txBody>
      </p:sp>
      <p:sp>
        <p:nvSpPr>
          <p:cNvPr id="8" name="TextBox 7"/>
          <p:cNvSpPr txBox="1"/>
          <p:nvPr/>
        </p:nvSpPr>
        <p:spPr>
          <a:xfrm>
            <a:off x="11521440" y="6492240"/>
            <a:ext cx="548640" cy="274320"/>
          </a:xfrm>
          <a:prstGeom prst="rect">
            <a:avLst/>
          </a:prstGeom>
          <a:noFill/>
        </p:spPr>
        <p:txBody>
          <a:bodyPr wrap="none">
            <a:spAutoFit/>
          </a:bodyPr>
          <a:lstStyle/>
          <a:p>
            <a:r>
              <a:rPr sz="1000">
                <a:solidFill>
                  <a:srgbClr val="52514E"/>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DISCUSSION</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6.1 考察：OpenFOAM が過大評価する原因</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11064240" cy="457200"/>
          </a:xfrm>
          <a:prstGeom prst="rect">
            <a:avLst/>
          </a:prstGeom>
          <a:noFill/>
        </p:spPr>
        <p:txBody>
          <a:bodyPr wrap="none">
            <a:spAutoFit/>
          </a:bodyPr>
          <a:lstStyle/>
          <a:p>
            <a:r>
              <a:rPr sz="1400">
                <a:solidFill>
                  <a:srgbClr val="0B0B0B"/>
                </a:solidFill>
              </a:rPr>
              <a:t>液相の Darcy 係数は 1/(1−α)² に比例するため、どのボイド率を用いるかで大きく変わる（case3 比較）</a:t>
            </a:r>
          </a:p>
        </p:txBody>
      </p:sp>
      <p:graphicFrame>
        <p:nvGraphicFramePr>
          <p:cNvPr id="6" name="Table 5"/>
          <p:cNvGraphicFramePr>
            <a:graphicFrameLocks noGrp="1"/>
          </p:cNvGraphicFramePr>
          <p:nvPr/>
        </p:nvGraphicFramePr>
        <p:xfrm>
          <a:off x="548640" y="2331720"/>
          <a:ext cx="11064240" cy="1828800"/>
        </p:xfrm>
        <a:graphic>
          <a:graphicData uri="http://schemas.openxmlformats.org/drawingml/2006/table">
            <a:tbl>
              <a:tblPr firstRow="1" bandRow="1">
                <a:tableStyleId>{5C22544A-7EE6-4342-B048-85BDC9FD1C3A}</a:tableStyleId>
              </a:tblPr>
              <a:tblGrid>
                <a:gridCol w="5029200"/>
                <a:gridCol w="3017520"/>
                <a:gridCol w="3017520"/>
              </a:tblGrid>
              <a:tr h="457200">
                <a:tc>
                  <a:txBody>
                    <a:bodyPr/>
                    <a:lstStyle/>
                    <a:p>
                      <a:pPr algn="ctr"/>
                    </a:p>
                  </a:txBody>
                  <a:tcPr marL="54864" marR="54864" marT="18288" marB="18288" anchor="ctr">
                    <a:solidFill>
                      <a:srgbClr val="2A78D6"/>
                    </a:solidFill>
                  </a:tcPr>
                </a:tc>
                <a:tc>
                  <a:txBody>
                    <a:bodyPr/>
                    <a:lstStyle/>
                    <a:p>
                      <a:pPr algn="ctr"/>
                      <a:r>
                        <a:rPr sz="1300" b="1">
                          <a:solidFill>
                            <a:srgbClr val="FFFFFF"/>
                          </a:solidFill>
                        </a:rPr>
                        <a:t>使用した α</a:t>
                      </a:r>
                    </a:p>
                  </a:txBody>
                  <a:tcPr marL="54864" marR="54864" marT="18288" marB="18288" anchor="ctr">
                    <a:solidFill>
                      <a:srgbClr val="2A78D6"/>
                    </a:solidFill>
                  </a:tcPr>
                </a:tc>
                <a:tc>
                  <a:txBody>
                    <a:bodyPr/>
                    <a:lstStyle/>
                    <a:p>
                      <a:pPr algn="ctr"/>
                      <a:r>
                        <a:rPr sz="1300" b="1">
                          <a:solidFill>
                            <a:srgbClr val="FFFFFF"/>
                          </a:solidFill>
                        </a:rPr>
                        <a:t>1/(1−α)²</a:t>
                      </a:r>
                    </a:p>
                  </a:txBody>
                  <a:tcPr marL="54864" marR="54864" marT="18288" marB="18288" anchor="ctr">
                    <a:solidFill>
                      <a:srgbClr val="2A78D6"/>
                    </a:solidFill>
                  </a:tcPr>
                </a:tc>
              </a:tr>
              <a:tr h="457200">
                <a:tc>
                  <a:txBody>
                    <a:bodyPr/>
                    <a:lstStyle/>
                    <a:p>
                      <a:pPr algn="ctr"/>
                      <a:r>
                        <a:rPr sz="1300">
                          <a:solidFill>
                            <a:srgbClr val="0B0B0B"/>
                          </a:solidFill>
                        </a:rPr>
                        <a:t>OpenFOAM（実験 a を係数に投入）</a:t>
                      </a:r>
                    </a:p>
                  </a:txBody>
                  <a:tcPr marL="54864" marR="54864" marT="18288" marB="18288" anchor="ctr">
                    <a:solidFill>
                      <a:srgbClr val="FFFFFF"/>
                    </a:solidFill>
                  </a:tcPr>
                </a:tc>
                <a:tc>
                  <a:txBody>
                    <a:bodyPr/>
                    <a:lstStyle/>
                    <a:p>
                      <a:pPr algn="ctr"/>
                      <a:r>
                        <a:rPr sz="1300">
                          <a:solidFill>
                            <a:srgbClr val="0B0B0B"/>
                          </a:solidFill>
                        </a:rPr>
                        <a:t>0.335</a:t>
                      </a:r>
                    </a:p>
                  </a:txBody>
                  <a:tcPr marL="54864" marR="54864" marT="18288" marB="18288" anchor="ctr">
                    <a:solidFill>
                      <a:srgbClr val="FFFFFF"/>
                    </a:solidFill>
                  </a:tcPr>
                </a:tc>
                <a:tc>
                  <a:txBody>
                    <a:bodyPr/>
                    <a:lstStyle/>
                    <a:p>
                      <a:pPr algn="ctr"/>
                      <a:r>
                        <a:rPr sz="1300">
                          <a:solidFill>
                            <a:srgbClr val="0B0B0B"/>
                          </a:solidFill>
                        </a:rPr>
                        <a:t>2.263</a:t>
                      </a:r>
                    </a:p>
                  </a:txBody>
                  <a:tcPr marL="54864" marR="54864" marT="18288" marB="18288" anchor="ctr">
                    <a:solidFill>
                      <a:srgbClr val="FFFFFF"/>
                    </a:solidFill>
                  </a:tcPr>
                </a:tc>
              </a:tr>
              <a:tr h="457200">
                <a:tc>
                  <a:txBody>
                    <a:bodyPr/>
                    <a:lstStyle/>
                    <a:p>
                      <a:pPr algn="ctr"/>
                      <a:r>
                        <a:rPr sz="1300">
                          <a:solidFill>
                            <a:srgbClr val="0B0B0B"/>
                          </a:solidFill>
                        </a:rPr>
                        <a:t>Lipinski（自前で解いた α）</a:t>
                      </a:r>
                    </a:p>
                  </a:txBody>
                  <a:tcPr marL="54864" marR="54864" marT="18288" marB="18288" anchor="ctr">
                    <a:solidFill>
                      <a:srgbClr val="F2F1EC"/>
                    </a:solidFill>
                  </a:tcPr>
                </a:tc>
                <a:tc>
                  <a:txBody>
                    <a:bodyPr/>
                    <a:lstStyle/>
                    <a:p>
                      <a:pPr algn="ctr"/>
                      <a:r>
                        <a:rPr sz="1300">
                          <a:solidFill>
                            <a:srgbClr val="0B0B0B"/>
                          </a:solidFill>
                        </a:rPr>
                        <a:t>0.150</a:t>
                      </a:r>
                    </a:p>
                  </a:txBody>
                  <a:tcPr marL="54864" marR="54864" marT="18288" marB="18288" anchor="ctr">
                    <a:solidFill>
                      <a:srgbClr val="F2F1EC"/>
                    </a:solidFill>
                  </a:tcPr>
                </a:tc>
                <a:tc>
                  <a:txBody>
                    <a:bodyPr/>
                    <a:lstStyle/>
                    <a:p>
                      <a:pPr algn="ctr"/>
                      <a:r>
                        <a:rPr sz="1300">
                          <a:solidFill>
                            <a:srgbClr val="0B0B0B"/>
                          </a:solidFill>
                        </a:rPr>
                        <a:t>1.385</a:t>
                      </a:r>
                    </a:p>
                  </a:txBody>
                  <a:tcPr marL="54864" marR="54864" marT="18288" marB="18288" anchor="ctr">
                    <a:solidFill>
                      <a:srgbClr val="F2F1EC"/>
                    </a:solidFill>
                  </a:tcPr>
                </a:tc>
              </a:tr>
              <a:tr h="457200">
                <a:tc>
                  <a:txBody>
                    <a:bodyPr/>
                    <a:lstStyle/>
                    <a:p>
                      <a:pPr algn="ctr"/>
                      <a:r>
                        <a:rPr sz="1300">
                          <a:solidFill>
                            <a:srgbClr val="0B0B0B"/>
                          </a:solidFill>
                        </a:rPr>
                        <a:t>比</a:t>
                      </a:r>
                    </a:p>
                  </a:txBody>
                  <a:tcPr marL="54864" marR="54864" marT="18288" marB="18288" anchor="ctr">
                    <a:solidFill>
                      <a:srgbClr val="FFFFFF"/>
                    </a:solidFill>
                  </a:tcPr>
                </a:tc>
                <a:tc>
                  <a:txBody>
                    <a:bodyPr/>
                    <a:lstStyle/>
                    <a:p>
                      <a:pPr algn="ctr"/>
                    </a:p>
                  </a:txBody>
                  <a:tcPr marL="54864" marR="54864" marT="18288" marB="18288" anchor="ctr">
                    <a:solidFill>
                      <a:srgbClr val="FFFFFF"/>
                    </a:solidFill>
                  </a:tcPr>
                </a:tc>
                <a:tc>
                  <a:txBody>
                    <a:bodyPr/>
                    <a:lstStyle/>
                    <a:p>
                      <a:pPr algn="ctr"/>
                      <a:r>
                        <a:rPr sz="1300">
                          <a:solidFill>
                            <a:srgbClr val="0B0B0B"/>
                          </a:solidFill>
                        </a:rPr>
                        <a:t>1.63</a:t>
                      </a:r>
                    </a:p>
                  </a:txBody>
                  <a:tcPr marL="54864" marR="54864" marT="18288" marB="18288" anchor="ctr">
                    <a:solidFill>
                      <a:srgbClr val="FFFFFF"/>
                    </a:solidFill>
                  </a:tcPr>
                </a:tc>
              </a:tr>
            </a:tbl>
          </a:graphicData>
        </a:graphic>
      </p:graphicFrame>
      <p:sp>
        <p:nvSpPr>
          <p:cNvPr id="7" name="TextBox 6"/>
          <p:cNvSpPr txBox="1"/>
          <p:nvPr/>
        </p:nvSpPr>
        <p:spPr>
          <a:xfrm>
            <a:off x="548640" y="4206240"/>
            <a:ext cx="11064240" cy="2194560"/>
          </a:xfrm>
          <a:prstGeom prst="rect">
            <a:avLst/>
          </a:prstGeom>
          <a:noFill/>
        </p:spPr>
        <p:txBody>
          <a:bodyPr wrap="square">
            <a:spAutoFit/>
          </a:bodyPr>
          <a:lstStyle/>
          <a:p>
            <a:pPr>
              <a:lnSpc>
                <a:spcPct val="120000"/>
              </a:lnSpc>
              <a:spcAft>
                <a:spcPts val="800"/>
              </a:spcAft>
            </a:pPr>
            <a:r>
              <a:rPr sz="1300">
                <a:solidFill>
                  <a:srgbClr val="52514E"/>
                </a:solidFill>
              </a:rPr>
              <a:t>▪ 実際の圧力損失比は 119.70/89.03 = 1.34 であり、係数比と整合（慣性項は実際のαで効くためやや緩和）</a:t>
            </a:r>
          </a:p>
          <a:p>
            <a:pPr>
              <a:lnSpc>
                <a:spcPct val="120000"/>
              </a:lnSpc>
              <a:spcAft>
                <a:spcPts val="800"/>
              </a:spcAft>
            </a:pPr>
            <a:r>
              <a:rPr sz="1300">
                <a:solidFill>
                  <a:srgbClr val="52514E"/>
                </a:solidFill>
              </a:rPr>
              <a:t>▪ Lipinski モデルはボイド率の過小評価と 1/(1−α)² 補正の過大が相殺した結果として、圧力損失が一致していると考えられる</a:t>
            </a:r>
          </a:p>
          <a:p>
            <a:pPr>
              <a:lnSpc>
                <a:spcPct val="120000"/>
              </a:lnSpc>
              <a:spcAft>
                <a:spcPts val="800"/>
              </a:spcAft>
            </a:pPr>
            <a:r>
              <a:rPr sz="1300">
                <a:solidFill>
                  <a:srgbClr val="52514E"/>
                </a:solidFill>
              </a:rPr>
              <a:t>▪ 実験の正しいボイド率を投入すると補正の強さが露呈し、OpenFOAM は過大評価となる。実験値（97.79）が Lipinski（89.03）と OpenFOAM（119.70）の中間に位置することがその傍証</a:t>
            </a:r>
          </a:p>
          <a:p>
            <a:pPr>
              <a:lnSpc>
                <a:spcPct val="120000"/>
              </a:lnSpc>
              <a:spcAft>
                <a:spcPts val="800"/>
              </a:spcAft>
            </a:pPr>
            <a:r>
              <a:rPr sz="1300">
                <a:solidFill>
                  <a:srgbClr val="52514E"/>
                </a:solidFill>
              </a:rPr>
              <a:t>▪ 相対浸透率の指数（現在 Darcy が 2 乗、Forchheimer が 1 乗）が強すぎる可能性が高く、本質的な検討点。文献には α³ 系（Lipinski 原論文）や Saez-Carbonell 相関など複数の流儀がある</a:t>
            </a:r>
          </a:p>
        </p:txBody>
      </p:sp>
      <p:sp>
        <p:nvSpPr>
          <p:cNvPr id="8" name="TextBox 7"/>
          <p:cNvSpPr txBox="1"/>
          <p:nvPr/>
        </p:nvSpPr>
        <p:spPr>
          <a:xfrm>
            <a:off x="11521440" y="6492240"/>
            <a:ext cx="548640" cy="274320"/>
          </a:xfrm>
          <a:prstGeom prst="rect">
            <a:avLst/>
          </a:prstGeom>
          <a:noFill/>
        </p:spPr>
        <p:txBody>
          <a:bodyPr wrap="none">
            <a:spAutoFit/>
          </a:bodyPr>
          <a:lstStyle/>
          <a:p>
            <a:r>
              <a:rPr sz="1000">
                <a:solidFill>
                  <a:srgbClr val="52514E"/>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DISCUSSION</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6.2 考察：気相のチャネリング</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11064240" cy="4389120"/>
          </a:xfrm>
          <a:prstGeom prst="rect">
            <a:avLst/>
          </a:prstGeom>
          <a:noFill/>
        </p:spPr>
        <p:txBody>
          <a:bodyPr wrap="square">
            <a:spAutoFit/>
          </a:bodyPr>
          <a:lstStyle/>
          <a:p>
            <a:pPr>
              <a:lnSpc>
                <a:spcPct val="140000"/>
              </a:lnSpc>
              <a:spcAft>
                <a:spcPts val="800"/>
              </a:spcAft>
            </a:pPr>
            <a:r>
              <a:rPr sz="1700">
                <a:solidFill>
                  <a:srgbClr val="0B0B0B"/>
                </a:solidFill>
              </a:rPr>
              <a:t>▪ 液相の速度は 1 次元推定 jL/(1−α) と完全に一致（比 0.97〜1.00）</a:t>
            </a:r>
          </a:p>
          <a:p>
            <a:pPr>
              <a:lnSpc>
                <a:spcPct val="140000"/>
              </a:lnSpc>
              <a:spcAft>
                <a:spcPts val="800"/>
              </a:spcAft>
            </a:pPr>
            <a:r>
              <a:rPr sz="1700">
                <a:solidFill>
                  <a:srgbClr val="0B0B0B"/>
                </a:solidFill>
              </a:rPr>
              <a:t>▪ 気相は jG/α より 31〜52% 速く、充填層内で偏流・チャネリングを起こしている</a:t>
            </a:r>
          </a:p>
          <a:p>
            <a:pPr>
              <a:lnSpc>
                <a:spcPct val="140000"/>
              </a:lnSpc>
              <a:spcAft>
                <a:spcPts val="800"/>
              </a:spcAft>
            </a:pPr>
            <a:r>
              <a:rPr sz="1700">
                <a:solidFill>
                  <a:srgbClr val="0B0B0B"/>
                </a:solidFill>
              </a:rPr>
              <a:t>▪ Forchheimer 項は U² に比例するため、気相の抵抗は 1.7〜2.3 倍に膨らむ</a:t>
            </a:r>
          </a:p>
          <a:p>
            <a:pPr>
              <a:lnSpc>
                <a:spcPct val="140000"/>
              </a:lnSpc>
              <a:spcAft>
                <a:spcPts val="800"/>
              </a:spcAft>
            </a:pPr>
            <a:r>
              <a:rPr sz="1700">
                <a:solidFill>
                  <a:srgbClr val="0B0B0B"/>
                </a:solidFill>
              </a:rPr>
              <a:t>▪ ただし気相の寄与は case1〜4 で 5〜9% に留まり、これだけでは +22〜35% の過大評価は説明できない</a:t>
            </a:r>
          </a:p>
          <a:p>
            <a:pPr>
              <a:lnSpc>
                <a:spcPct val="140000"/>
              </a:lnSpc>
              <a:spcAft>
                <a:spcPts val="800"/>
              </a:spcAft>
            </a:pPr>
            <a:r>
              <a:rPr sz="1700">
                <a:solidFill>
                  <a:srgbClr val="0B0B0B"/>
                </a:solidFill>
              </a:rPr>
              <a:t>▪ 気相寄与が 24% に達する case7 では無視できない要因となる</a:t>
            </a:r>
          </a:p>
        </p:txBody>
      </p:sp>
      <p:sp>
        <p:nvSpPr>
          <p:cNvPr id="6" name="TextBox 5"/>
          <p:cNvSpPr txBox="1"/>
          <p:nvPr/>
        </p:nvSpPr>
        <p:spPr>
          <a:xfrm>
            <a:off x="11521440" y="6492240"/>
            <a:ext cx="548640" cy="274320"/>
          </a:xfrm>
          <a:prstGeom prst="rect">
            <a:avLst/>
          </a:prstGeom>
          <a:noFill/>
        </p:spPr>
        <p:txBody>
          <a:bodyPr wrap="none">
            <a:spAutoFit/>
          </a:bodyPr>
          <a:lstStyle/>
          <a:p>
            <a:r>
              <a:rPr sz="1000">
                <a:solidFill>
                  <a:srgbClr val="52514E"/>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9144000" cy="365760"/>
          </a:xfrm>
          <a:prstGeom prst="rect">
            <a:avLst/>
          </a:prstGeom>
          <a:noFill/>
        </p:spPr>
        <p:txBody>
          <a:bodyPr wrap="none">
            <a:spAutoFit/>
          </a:bodyPr>
          <a:lstStyle/>
          <a:p>
            <a:r>
              <a:rPr sz="1400" b="1">
                <a:solidFill>
                  <a:srgbClr val="2A78D6"/>
                </a:solidFill>
              </a:rPr>
              <a:t>NEXT STEPS</a:t>
            </a:r>
          </a:p>
        </p:txBody>
      </p:sp>
      <p:sp>
        <p:nvSpPr>
          <p:cNvPr id="3" name="TextBox 2"/>
          <p:cNvSpPr txBox="1"/>
          <p:nvPr/>
        </p:nvSpPr>
        <p:spPr>
          <a:xfrm>
            <a:off x="548640" y="594360"/>
            <a:ext cx="10972800" cy="822960"/>
          </a:xfrm>
          <a:prstGeom prst="rect">
            <a:avLst/>
          </a:prstGeom>
          <a:noFill/>
        </p:spPr>
        <p:txBody>
          <a:bodyPr wrap="square">
            <a:spAutoFit/>
          </a:bodyPr>
          <a:lstStyle/>
          <a:p>
            <a:r>
              <a:rPr sz="3000" b="1">
                <a:solidFill>
                  <a:srgbClr val="0B0B0B"/>
                </a:solidFill>
              </a:rPr>
              <a:t>7. 課題と今後の検討</a:t>
            </a:r>
          </a:p>
        </p:txBody>
      </p:sp>
      <p:sp>
        <p:nvSpPr>
          <p:cNvPr id="4" name="Rectangle 3"/>
          <p:cNvSpPr/>
          <p:nvPr/>
        </p:nvSpPr>
        <p:spPr>
          <a:xfrm>
            <a:off x="548640" y="1051560"/>
            <a:ext cx="914400" cy="381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0"/>
            <a:ext cx="11064240" cy="4389120"/>
          </a:xfrm>
          <a:prstGeom prst="rect">
            <a:avLst/>
          </a:prstGeom>
          <a:noFill/>
        </p:spPr>
        <p:txBody>
          <a:bodyPr wrap="square">
            <a:spAutoFit/>
          </a:bodyPr>
          <a:lstStyle/>
          <a:p>
            <a:pPr>
              <a:lnSpc>
                <a:spcPct val="130000"/>
              </a:lnSpc>
              <a:spcAft>
                <a:spcPts val="800"/>
              </a:spcAft>
            </a:pPr>
            <a:r>
              <a:rPr sz="1500">
                <a:solidFill>
                  <a:srgbClr val="0B0B0B"/>
                </a:solidFill>
              </a:rPr>
              <a:t>▪ case5・case6・case8 は CFD 未計算。case2・case7 は未収束。信頼できる比較点は case1・case3・case4 の 3 点のみ。まず計算を完了させる</a:t>
            </a:r>
          </a:p>
          <a:p>
            <a:pPr>
              <a:lnSpc>
                <a:spcPct val="130000"/>
              </a:lnSpc>
              <a:spcAft>
                <a:spcPts val="800"/>
              </a:spcAft>
            </a:pPr>
            <a:r>
              <a:rPr sz="1500">
                <a:solidFill>
                  <a:srgbClr val="0B0B0B"/>
                </a:solidFill>
              </a:rPr>
              <a:t>▪ 相対浸透率の指数を変えた感度解析（Darcy 2乗→3乗、あるいは Saez-Carbonell 相関）を行い、実験との一致度を確認する</a:t>
            </a:r>
          </a:p>
          <a:p>
            <a:pPr>
              <a:lnSpc>
                <a:spcPct val="130000"/>
              </a:lnSpc>
              <a:spcAft>
                <a:spcPts val="800"/>
              </a:spcAft>
            </a:pPr>
            <a:r>
              <a:rPr sz="1500">
                <a:solidFill>
                  <a:srgbClr val="0B0B0B"/>
                </a:solidFill>
              </a:rPr>
              <a:t>▪ 気相チャネリングの実態把握。径方向のボイド率・速度分布を確認し、揚力・乱流分散モデルの導入要否を判断する</a:t>
            </a:r>
          </a:p>
          <a:p>
            <a:pPr>
              <a:lnSpc>
                <a:spcPct val="130000"/>
              </a:lnSpc>
              <a:spcAft>
                <a:spcPts val="800"/>
              </a:spcAft>
            </a:pPr>
            <a:r>
              <a:rPr sz="1500">
                <a:solidFill>
                  <a:srgbClr val="0B0B0B"/>
                </a:solidFill>
              </a:rPr>
              <a:t>▪ 入口の均質流仮定（スリップ比1）の妥当性検証。実験のスリップ比は1.7〜9.1であり、高jG条件で流れが発達しきるか確認が必要</a:t>
            </a:r>
          </a:p>
          <a:p>
            <a:pPr>
              <a:lnSpc>
                <a:spcPct val="130000"/>
              </a:lnSpc>
              <a:spcAft>
                <a:spcPts val="800"/>
              </a:spcAft>
            </a:pPr>
            <a:r>
              <a:rPr sz="1500">
                <a:solidFill>
                  <a:srgbClr val="0B0B0B"/>
                </a:solidFill>
              </a:rPr>
              <a:t>▪ 実験データ B 列の正体確認。IF(D&lt;8, B, D) の分岐で低jG条件のデータが破綻する恐れ</a:t>
            </a:r>
          </a:p>
          <a:p>
            <a:pPr>
              <a:lnSpc>
                <a:spcPct val="130000"/>
              </a:lnSpc>
              <a:spcAft>
                <a:spcPts val="800"/>
              </a:spcAft>
            </a:pPr>
            <a:r>
              <a:rPr sz="1500">
                <a:solidFill>
                  <a:srgbClr val="0B0B0B"/>
                </a:solidFill>
              </a:rPr>
              <a:t>▪ Lipinski 計算と OpenFOAM でパラメータ不一致（ε: 0.38 対 0.3731、μL: 1.002×10⁻³ 対 8.9×10⁻⁴）。厳密比較の際は統一が必要</a:t>
            </a:r>
          </a:p>
        </p:txBody>
      </p:sp>
      <p:sp>
        <p:nvSpPr>
          <p:cNvPr id="6" name="TextBox 5"/>
          <p:cNvSpPr txBox="1"/>
          <p:nvPr/>
        </p:nvSpPr>
        <p:spPr>
          <a:xfrm>
            <a:off x="11521440" y="6492240"/>
            <a:ext cx="548640" cy="274320"/>
          </a:xfrm>
          <a:prstGeom prst="rect">
            <a:avLst/>
          </a:prstGeom>
          <a:noFill/>
        </p:spPr>
        <p:txBody>
          <a:bodyPr wrap="none">
            <a:spAutoFit/>
          </a:bodyPr>
          <a:lstStyle/>
          <a:p>
            <a:r>
              <a:rPr sz="1000">
                <a:solidFill>
                  <a:srgbClr val="52514E"/>
                </a:solidFill>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